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rid entry" id="{1cf8630a-f3c4-213b-9e14-1a87426fe8be}">
          <p14:sldIdLst>
            <p14:sldId id="256"/>
          </p14:sldIdLst>
        </p14:section>
        <p14:section name="The case" id="{f7a2b55e-0e78-16c0-f167-de49dcc52d00}">
          <p14:sldIdLst>
            <p14:sldId id="257"/>
            <p14:sldId id="258"/>
          </p14:sldIdLst>
        </p14:section>
        <p14:section name="The deck" id="{5f018b22-433a-a2bd-0b5c-84ee1698759f}">
          <p14:sldIdLst>
            <p14:sldId id="259"/>
            <p14:sldId id="260"/>
            <p14:sldId id="261"/>
          </p14:sldIdLst>
        </p14:section>
        <p14:section name="Evidence" id="{1396e37d-275e-c6c5-3546-a3217dd85293}">
          <p14:sldIdLst>
            <p14:sldId id="262"/>
            <p14:sldId id="263"/>
            <p14:sldId id="264"/>
          </p14:sldIdLst>
        </p14:section>
        <p14:section name="The ask" id="{4b715573-0ec6-b2f0-0dbd-75669c7ed34f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National rank</c:v>
                </c:pt>
              </c:strCache>
            </c:strRef>
          </c:tx>
          <c:spPr>
            <a:solidFill>
              <a:srgbClr val="E8303A"/>
            </a:solidFill>
            <a:ln w="50800" cap="flat">
              <a:solidFill>
                <a:srgbClr val="E830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E8303A"/>
              </a:solidFill>
              <a:ln w="25400" cap="flat">
                <a:solidFill>
                  <a:srgbClr val="E830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</c:v>
                </c:pt>
                <c:pt idx="1">
                  <c:v>7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500" u="none">
                  <a:solidFill>
                    <a:schemeClr val="tx1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A4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 w="12700" cap="flat">
              <a:solidFill>
                <a:srgbClr val="1E2A3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5E0D0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15E0D0"/>
                    </a:solidFill>
                    <a:latin typeface="+mn-lt"/>
                  </a:rPr>
                  <a:t>National rank  (lower is better)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3A4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A26"/>
        </a:solidFill>
        <a:ln>
          <a:noFill/>
        </a:ln>
        <a:effectLst/>
      </c:spPr>
    </c:plotArea>
    <c:plotVisOnly val="1"/>
    <c:dispBlanksAs val="span"/>
  </c:chart>
  <c:spPr>
    <a:solidFill>
      <a:srgbClr val="06080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I'm Suteekshn, MBA IB 2026-28. I'm standing for the Placement Committee. Rather than a list of claims, I've built this as a driver card: every rating on the next slides has a number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I bring: exposure to the process, a track record of lifting a team, and the data skills to run placements on numbers instead of guesswork.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attributes. The bars are the claim; the line under each is the evidence. Overall 94 — the weakest is pressure management at 91, and even that has a national ranking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cards. Two legendary, three epic, one rare — same grammar as an F1 game driver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Vibe Code: I ship the data work myself. Team Architect: 81 places, twice over. Podium Maker: the result came after I left — that is what a committee seat should leave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Consistency under load, the recruiter-side view from the CSC, and the comms work — 7,000 people who follow something I built because it is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BAJA SAE India, a national field of 150+ teams. Note the axis is logarithmic — the jump from 84 to 7 is the big one, but holding 7 and then taking the junior team to 3 is the part that says it was systematic.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sectors. Exposure — I already know the process. Execution — I finish things. Empathy — the 200th person on the shortlist is the one who needs the committee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corners, 2018 to today. The through-line is that every role was one I built or lifted rather than inherited.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ask. And the live version of this driver card is online — the URL is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2240280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500" kern="0" dirty="0">
                <a:solidFill>
                  <a:srgbClr val="E8303A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68680" y="2651760"/>
            <a:ext cx="104241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spc="-100" kern="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914400" y="3931920"/>
            <a:ext cx="8686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92A6BA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29184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400" kern="0" dirty="0">
                <a:solidFill>
                  <a:srgbClr val="E8303A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spc="-50" kern="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Shape 0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tx2"/>
                </a:solidFill>
              </a:rPr>
              <a:t>SUTEEKSHN MAHAJAN  ·  MBA (IB) 2026–28  ·  IIFT KOLKATA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8303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8303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-number"/>
          <p:cNvSpPr txBox="1"/>
          <p:nvPr/>
        </p:nvSpPr>
        <p:spPr>
          <a:xfrm>
            <a:off x="6400800" y="384048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16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5000" dirty="0"/>
          </a:p>
        </p:txBody>
      </p:sp>
      <p:pic>
        <p:nvPicPr>
          <p:cNvPr id="3" name="driver" descr="/Users/suteekshnmahajan/Desktop/F1 Project/placecom-assets/dri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914400"/>
            <a:ext cx="1783080" cy="5760720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749808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15E0D0"/>
                </a:solidFill>
              </a:rPr>
              <a:t>GRID ENTRY  ·  PLACEMENT COMMITTEE 2026</a:t>
            </a:r>
            <a:endParaRPr lang="en-US" sz="1300" dirty="0"/>
          </a:p>
        </p:txBody>
      </p:sp>
      <p:sp>
        <p:nvSpPr>
          <p:cNvPr id="5" name="name-1"/>
          <p:cNvSpPr txBox="1"/>
          <p:nvPr/>
        </p:nvSpPr>
        <p:spPr>
          <a:xfrm>
            <a:off x="749808" y="17830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SUTEEKSHN</a:t>
            </a:r>
            <a:endParaRPr lang="en-US" sz="7200" dirty="0"/>
          </a:p>
        </p:txBody>
      </p:sp>
      <p:sp>
        <p:nvSpPr>
          <p:cNvPr id="6" name="name-2"/>
          <p:cNvSpPr txBox="1"/>
          <p:nvPr/>
        </p:nvSpPr>
        <p:spPr>
          <a:xfrm>
            <a:off x="749808" y="27432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E8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MAHAJAN</a:t>
            </a:r>
            <a:endParaRPr lang="en-US" sz="7200" dirty="0"/>
          </a:p>
        </p:txBody>
      </p:sp>
      <p:sp>
        <p:nvSpPr>
          <p:cNvPr id="7" name="subtitle"/>
          <p:cNvSpPr txBox="1"/>
          <p:nvPr/>
        </p:nvSpPr>
        <p:spPr>
          <a:xfrm>
            <a:off x="749808" y="3977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MBA (International Business) 2026–28, IIFT Kolkata.  Corporate Support Committee member.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Ex–Marketing Head, Team Knox, IIT Roorkee.</a:t>
            </a:r>
            <a:endParaRPr lang="en-US" sz="1500" dirty="0"/>
          </a:p>
        </p:txBody>
      </p:sp>
      <p:sp>
        <p:nvSpPr>
          <p:cNvPr id="8" name="tagline"/>
          <p:cNvSpPr txBox="1"/>
          <p:nvPr/>
        </p:nvSpPr>
        <p:spPr>
          <a:xfrm>
            <a:off x="749808" y="4892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C14D"/>
                </a:solidFill>
              </a:rPr>
              <a:t>This is my driver card. Six strengths, one lap, zero fluff.</a:t>
            </a:r>
            <a:endParaRPr lang="en-US" sz="1600" dirty="0"/>
          </a:p>
        </p:txBody>
      </p:sp>
      <p:sp>
        <p:nvSpPr>
          <p:cNvPr id="9" name="ts-v-1"/>
          <p:cNvSpPr txBox="1"/>
          <p:nvPr/>
        </p:nvSpPr>
        <p:spPr>
          <a:xfrm>
            <a:off x="749808" y="5486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3000" dirty="0"/>
          </a:p>
        </p:txBody>
      </p:sp>
      <p:sp>
        <p:nvSpPr>
          <p:cNvPr id="10" name="ts-k-2"/>
          <p:cNvSpPr txBox="1"/>
          <p:nvPr/>
        </p:nvSpPr>
        <p:spPr>
          <a:xfrm>
            <a:off x="749808" y="5961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OVERALL</a:t>
            </a:r>
            <a:endParaRPr lang="en-US" sz="1000" dirty="0"/>
          </a:p>
        </p:txBody>
      </p:sp>
      <p:sp>
        <p:nvSpPr>
          <p:cNvPr id="11" name="ts-v-3"/>
          <p:cNvSpPr txBox="1"/>
          <p:nvPr/>
        </p:nvSpPr>
        <p:spPr>
          <a:xfrm>
            <a:off x="2852928" y="5486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D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</a:t>
            </a:r>
            <a:endParaRPr lang="en-US" sz="3000" dirty="0"/>
          </a:p>
        </p:txBody>
      </p:sp>
      <p:sp>
        <p:nvSpPr>
          <p:cNvPr id="12" name="ts-k-4"/>
          <p:cNvSpPr txBox="1"/>
          <p:nvPr/>
        </p:nvSpPr>
        <p:spPr>
          <a:xfrm>
            <a:off x="2852928" y="5961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POSITIONS</a:t>
            </a:r>
            <a:endParaRPr lang="en-US" sz="1000" dirty="0"/>
          </a:p>
        </p:txBody>
      </p:sp>
      <p:sp>
        <p:nvSpPr>
          <p:cNvPr id="13" name="ts-v-5"/>
          <p:cNvSpPr txBox="1"/>
          <p:nvPr/>
        </p:nvSpPr>
        <p:spPr>
          <a:xfrm>
            <a:off x="4956048" y="5486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3000" dirty="0"/>
          </a:p>
        </p:txBody>
      </p:sp>
      <p:sp>
        <p:nvSpPr>
          <p:cNvPr id="14" name="ts-k-6"/>
          <p:cNvSpPr txBox="1"/>
          <p:nvPr/>
        </p:nvSpPr>
        <p:spPr>
          <a:xfrm>
            <a:off x="4956048" y="5961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STUDENTS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303A"/>
                </a:solidFill>
              </a:rPr>
              <a:t>THE ONE-LINE PITCH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50" kern="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already done the job without the title</a:t>
            </a:r>
            <a:endParaRPr lang="en-US" sz="3600" dirty="0"/>
          </a:p>
        </p:txBody>
      </p:sp>
      <p:sp>
        <p:nvSpPr>
          <p:cNvPr id="4" name="panel-7"/>
          <p:cNvSpPr/>
          <p:nvPr/>
        </p:nvSpPr>
        <p:spPr>
          <a:xfrm>
            <a:off x="502920" y="1691640"/>
            <a:ext cx="11155680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15E0D0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5" name="ring-8"/>
          <p:cNvSpPr/>
          <p:nvPr/>
        </p:nvSpPr>
        <p:spPr>
          <a:xfrm>
            <a:off x="777240" y="2029968"/>
            <a:ext cx="694944" cy="694944"/>
          </a:xfrm>
          <a:prstGeom prst="ellipse">
            <a:avLst/>
          </a:prstGeom>
          <a:solidFill>
            <a:schemeClr val="bg1"/>
          </a:solidFill>
          <a:ln w="22225">
            <a:solidFill>
              <a:srgbClr val="15E0D0"/>
            </a:solidFill>
            <a:prstDash val="solid"/>
          </a:ln>
        </p:spPr>
      </p:sp>
      <p:sp>
        <p:nvSpPr>
          <p:cNvPr id="6" name="ring-label-9"/>
          <p:cNvSpPr txBox="1"/>
          <p:nvPr/>
        </p:nvSpPr>
        <p:spPr>
          <a:xfrm>
            <a:off x="777240" y="20299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row-h-10"/>
          <p:cNvSpPr txBox="1"/>
          <p:nvPr/>
        </p:nvSpPr>
        <p:spPr>
          <a:xfrm>
            <a:off x="1691640" y="189280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Inside the placement process already</a:t>
            </a:r>
            <a:endParaRPr lang="en-US" sz="1900" dirty="0"/>
          </a:p>
        </p:txBody>
      </p:sp>
      <p:sp>
        <p:nvSpPr>
          <p:cNvPr id="8" name="row-b-11"/>
          <p:cNvSpPr txBox="1"/>
          <p:nvPr/>
        </p:nvSpPr>
        <p:spPr>
          <a:xfrm>
            <a:off x="1691640" y="22585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Corporate Support Committee, IIFT Kolkata — 100+ avenues of recruiter interaction, the Summer Internship Process 2026, and internal coordination for 400+ students. I have conducted GDs and reviewed CVs for this batch.</a:t>
            </a:r>
            <a:endParaRPr lang="en-US" sz="1400" dirty="0"/>
          </a:p>
        </p:txBody>
      </p:sp>
      <p:sp>
        <p:nvSpPr>
          <p:cNvPr id="9" name="panel-12"/>
          <p:cNvSpPr/>
          <p:nvPr/>
        </p:nvSpPr>
        <p:spPr>
          <a:xfrm>
            <a:off x="502920" y="3264408"/>
            <a:ext cx="11155680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E8303A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10" name="ring-13"/>
          <p:cNvSpPr/>
          <p:nvPr/>
        </p:nvSpPr>
        <p:spPr>
          <a:xfrm>
            <a:off x="777240" y="3602736"/>
            <a:ext cx="694944" cy="694944"/>
          </a:xfrm>
          <a:prstGeom prst="ellipse">
            <a:avLst/>
          </a:prstGeom>
          <a:solidFill>
            <a:schemeClr val="bg1"/>
          </a:solidFill>
          <a:ln w="22225">
            <a:solidFill>
              <a:srgbClr val="E8303A"/>
            </a:solidFill>
            <a:prstDash val="solid"/>
          </a:ln>
        </p:spPr>
      </p:sp>
      <p:sp>
        <p:nvSpPr>
          <p:cNvPr id="11" name="ring-label-14"/>
          <p:cNvSpPr txBox="1"/>
          <p:nvPr/>
        </p:nvSpPr>
        <p:spPr>
          <a:xfrm>
            <a:off x="777240" y="360273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row-h-15"/>
          <p:cNvSpPr txBox="1"/>
          <p:nvPr/>
        </p:nvSpPr>
        <p:spPr>
          <a:xfrm>
            <a:off x="1691640" y="3465576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 team that climbed 81 places</a:t>
            </a:r>
            <a:endParaRPr lang="en-US" sz="1900" dirty="0"/>
          </a:p>
        </p:txBody>
      </p:sp>
      <p:sp>
        <p:nvSpPr>
          <p:cNvPr id="13" name="row-b-16"/>
          <p:cNvSpPr txBox="1"/>
          <p:nvPr/>
        </p:nvSpPr>
        <p:spPr>
          <a:xfrm>
            <a:off x="1691640" y="3831336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Marketing Head of Team Knox, IIT Roorkee. I built the marketing vertical from nothing and took the team from Rank 84 to Rank 7 amongst 150+ teams — then repeated it the following year.</a:t>
            </a:r>
            <a:endParaRPr lang="en-US" sz="1400" dirty="0"/>
          </a:p>
        </p:txBody>
      </p:sp>
      <p:sp>
        <p:nvSpPr>
          <p:cNvPr id="14" name="panel-17"/>
          <p:cNvSpPr/>
          <p:nvPr/>
        </p:nvSpPr>
        <p:spPr>
          <a:xfrm>
            <a:off x="502920" y="4837176"/>
            <a:ext cx="11155680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FFC14D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15" name="ring-18"/>
          <p:cNvSpPr/>
          <p:nvPr/>
        </p:nvSpPr>
        <p:spPr>
          <a:xfrm>
            <a:off x="777240" y="5175504"/>
            <a:ext cx="694944" cy="694944"/>
          </a:xfrm>
          <a:prstGeom prst="ellipse">
            <a:avLst/>
          </a:prstGeom>
          <a:solidFill>
            <a:schemeClr val="bg1"/>
          </a:solidFill>
          <a:ln w="22225">
            <a:solidFill>
              <a:srgbClr val="FFC14D"/>
            </a:solidFill>
            <a:prstDash val="solid"/>
          </a:ln>
        </p:spPr>
      </p:sp>
      <p:sp>
        <p:nvSpPr>
          <p:cNvPr id="16" name="ring-label-19"/>
          <p:cNvSpPr txBox="1"/>
          <p:nvPr/>
        </p:nvSpPr>
        <p:spPr>
          <a:xfrm>
            <a:off x="777240" y="517550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row-h-20"/>
          <p:cNvSpPr txBox="1"/>
          <p:nvPr/>
        </p:nvSpPr>
        <p:spPr>
          <a:xfrm>
            <a:off x="1691640" y="503834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The data work nobody has to ask for</a:t>
            </a:r>
            <a:endParaRPr lang="en-US" sz="1900" dirty="0"/>
          </a:p>
        </p:txBody>
      </p:sp>
      <p:sp>
        <p:nvSpPr>
          <p:cNvPr id="18" name="row-b-21"/>
          <p:cNvSpPr txBox="1"/>
          <p:nvPr/>
        </p:nvSpPr>
        <p:spPr>
          <a:xfrm>
            <a:off x="1691640" y="5404104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A live F1 analytics platform with Monte Carlo race simulations, a world news tracker, dashboards — all built with Claude Code. If the committee needs a tracker, it exists the same week.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8303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303A"/>
                </a:solidFill>
              </a:rPr>
              <a:t>SECTION 01 — DRIVER RATING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50" kern="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attribute sheet</a:t>
            </a:r>
            <a:endParaRPr lang="en-US" sz="3600" dirty="0"/>
          </a:p>
        </p:txBody>
      </p:sp>
      <p:sp>
        <p:nvSpPr>
          <p:cNvPr id="4" name="ovr-ring"/>
          <p:cNvSpPr/>
          <p:nvPr/>
        </p:nvSpPr>
        <p:spPr>
          <a:xfrm>
            <a:off x="685800" y="1920240"/>
            <a:ext cx="2743200" cy="2743200"/>
          </a:xfrm>
          <a:prstGeom prst="ellipse">
            <a:avLst/>
          </a:prstGeom>
          <a:solidFill>
            <a:schemeClr val="bg2"/>
          </a:solidFill>
          <a:ln w="38100">
            <a:solidFill>
              <a:srgbClr val="FFC14D"/>
            </a:solidFill>
            <a:prstDash val="solid"/>
          </a:ln>
        </p:spPr>
      </p:sp>
      <p:sp>
        <p:nvSpPr>
          <p:cNvPr id="5" name="ovr-num"/>
          <p:cNvSpPr txBox="1"/>
          <p:nvPr/>
        </p:nvSpPr>
        <p:spPr>
          <a:xfrm>
            <a:off x="685800" y="2331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7600" dirty="0"/>
          </a:p>
        </p:txBody>
      </p:sp>
      <p:sp>
        <p:nvSpPr>
          <p:cNvPr id="6" name="ovr-lbl"/>
          <p:cNvSpPr txBox="1"/>
          <p:nvPr/>
        </p:nvSpPr>
        <p:spPr>
          <a:xfrm>
            <a:off x="68580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chemeClr val="tx2"/>
                </a:solidFill>
              </a:rPr>
              <a:t>OVERALL</a:t>
            </a:r>
            <a:endParaRPr lang="en-US" sz="1100" dirty="0"/>
          </a:p>
        </p:txBody>
      </p:sp>
      <p:sp>
        <p:nvSpPr>
          <p:cNvPr id="7" name="ovr-tier"/>
          <p:cNvSpPr txBox="1"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C14D"/>
                </a:solidFill>
              </a:rPr>
              <a:t>TIER · LEGENDARY</a:t>
            </a:r>
            <a:endParaRPr lang="en-US" sz="1000" dirty="0"/>
          </a:p>
        </p:txBody>
      </p:sp>
      <p:sp>
        <p:nvSpPr>
          <p:cNvPr id="8" name="ovr-note"/>
          <p:cNvSpPr txBox="1"/>
          <p:nvPr/>
        </p:nvSpPr>
        <p:spPr>
          <a:xfrm>
            <a:off x="685800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chemeClr val="tx2"/>
                </a:solidFill>
              </a:rPr>
              <a:t>Every rating is backed by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chemeClr val="tx2"/>
                </a:solidFill>
              </a:rPr>
              <a:t>something that happened.</a:t>
            </a:r>
            <a:endParaRPr lang="en-US" sz="1200" dirty="0"/>
          </a:p>
        </p:txBody>
      </p:sp>
      <p:sp>
        <p:nvSpPr>
          <p:cNvPr id="9" name="at-l-22"/>
          <p:cNvSpPr txBox="1"/>
          <p:nvPr/>
        </p:nvSpPr>
        <p:spPr>
          <a:xfrm>
            <a:off x="4023360" y="17830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</a:rPr>
              <a:t>AI &amp; DATA CRAFT</a:t>
            </a:r>
            <a:endParaRPr lang="en-US" sz="1300" dirty="0"/>
          </a:p>
        </p:txBody>
      </p:sp>
      <p:sp>
        <p:nvSpPr>
          <p:cNvPr id="10" name="at-v-23"/>
          <p:cNvSpPr txBox="1"/>
          <p:nvPr/>
        </p:nvSpPr>
        <p:spPr>
          <a:xfrm>
            <a:off x="10835640" y="174650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C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900" dirty="0"/>
          </a:p>
        </p:txBody>
      </p:sp>
      <p:sp>
        <p:nvSpPr>
          <p:cNvPr id="11" name="at-tr-24"/>
          <p:cNvSpPr/>
          <p:nvPr/>
        </p:nvSpPr>
        <p:spPr>
          <a:xfrm>
            <a:off x="4023360" y="2075688"/>
            <a:ext cx="7635240" cy="1188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t-fl-25"/>
          <p:cNvSpPr/>
          <p:nvPr/>
        </p:nvSpPr>
        <p:spPr>
          <a:xfrm>
            <a:off x="4023360" y="2075688"/>
            <a:ext cx="7177126" cy="118872"/>
          </a:xfrm>
          <a:prstGeom prst="rect">
            <a:avLst/>
          </a:prstGeom>
          <a:solidFill>
            <a:srgbClr val="FFC14D"/>
          </a:solidFill>
          <a:ln w="12700">
            <a:solidFill>
              <a:srgbClr val="FFC14D"/>
            </a:solidFill>
            <a:prstDash val="solid"/>
          </a:ln>
        </p:spPr>
      </p:sp>
      <p:sp>
        <p:nvSpPr>
          <p:cNvPr id="13" name="at-n-26"/>
          <p:cNvSpPr txBox="1"/>
          <p:nvPr/>
        </p:nvSpPr>
        <p:spPr>
          <a:xfrm>
            <a:off x="4023360" y="2221992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F1 analytics platform, Monte Carlo sims, live news tracker</a:t>
            </a:r>
            <a:endParaRPr lang="en-US" sz="1100" dirty="0"/>
          </a:p>
        </p:txBody>
      </p:sp>
      <p:sp>
        <p:nvSpPr>
          <p:cNvPr id="14" name="at-l-27"/>
          <p:cNvSpPr txBox="1"/>
          <p:nvPr/>
        </p:nvSpPr>
        <p:spPr>
          <a:xfrm>
            <a:off x="4023360" y="25511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</a:rPr>
              <a:t>TEAM BUILDING</a:t>
            </a:r>
            <a:endParaRPr lang="en-US" sz="1300" dirty="0"/>
          </a:p>
        </p:txBody>
      </p:sp>
      <p:sp>
        <p:nvSpPr>
          <p:cNvPr id="15" name="at-v-28"/>
          <p:cNvSpPr txBox="1"/>
          <p:nvPr/>
        </p:nvSpPr>
        <p:spPr>
          <a:xfrm>
            <a:off x="10835640" y="25146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8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900" dirty="0"/>
          </a:p>
        </p:txBody>
      </p:sp>
      <p:sp>
        <p:nvSpPr>
          <p:cNvPr id="16" name="at-tr-29"/>
          <p:cNvSpPr/>
          <p:nvPr/>
        </p:nvSpPr>
        <p:spPr>
          <a:xfrm>
            <a:off x="4023360" y="2843784"/>
            <a:ext cx="7635240" cy="1188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at-fl-30"/>
          <p:cNvSpPr/>
          <p:nvPr/>
        </p:nvSpPr>
        <p:spPr>
          <a:xfrm>
            <a:off x="4023360" y="2843784"/>
            <a:ext cx="7329830" cy="118872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18" name="at-n-31"/>
          <p:cNvSpPr txBox="1"/>
          <p:nvPr/>
        </p:nvSpPr>
        <p:spPr>
          <a:xfrm>
            <a:off x="4023360" y="2990088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Built a marketing vertical from zero inside Team Knox</a:t>
            </a:r>
            <a:endParaRPr lang="en-US" sz="1100" dirty="0"/>
          </a:p>
        </p:txBody>
      </p:sp>
      <p:sp>
        <p:nvSpPr>
          <p:cNvPr id="19" name="at-l-32"/>
          <p:cNvSpPr txBox="1"/>
          <p:nvPr/>
        </p:nvSpPr>
        <p:spPr>
          <a:xfrm>
            <a:off x="4023360" y="33192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</a:rPr>
              <a:t>PLACEMENT OPS IQ</a:t>
            </a:r>
            <a:endParaRPr lang="en-US" sz="1300" dirty="0"/>
          </a:p>
        </p:txBody>
      </p:sp>
      <p:sp>
        <p:nvSpPr>
          <p:cNvPr id="20" name="at-v-33"/>
          <p:cNvSpPr txBox="1"/>
          <p:nvPr/>
        </p:nvSpPr>
        <p:spPr>
          <a:xfrm>
            <a:off x="10835640" y="328269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B1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900" dirty="0"/>
          </a:p>
        </p:txBody>
      </p:sp>
      <p:sp>
        <p:nvSpPr>
          <p:cNvPr id="21" name="at-tr-34"/>
          <p:cNvSpPr/>
          <p:nvPr/>
        </p:nvSpPr>
        <p:spPr>
          <a:xfrm>
            <a:off x="4023360" y="3611880"/>
            <a:ext cx="7635240" cy="1188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at-fl-35"/>
          <p:cNvSpPr/>
          <p:nvPr/>
        </p:nvSpPr>
        <p:spPr>
          <a:xfrm>
            <a:off x="4023360" y="3611880"/>
            <a:ext cx="7024421" cy="118872"/>
          </a:xfrm>
          <a:prstGeom prst="rect">
            <a:avLst/>
          </a:prstGeom>
          <a:solidFill>
            <a:srgbClr val="B14DFF"/>
          </a:solidFill>
          <a:ln w="12700">
            <a:solidFill>
              <a:srgbClr val="B14DFF"/>
            </a:solidFill>
            <a:prstDash val="solid"/>
          </a:ln>
        </p:spPr>
      </p:sp>
      <p:sp>
        <p:nvSpPr>
          <p:cNvPr id="23" name="at-n-36"/>
          <p:cNvSpPr txBox="1"/>
          <p:nvPr/>
        </p:nvSpPr>
        <p:spPr>
          <a:xfrm>
            <a:off x="4023360" y="3758184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100+ recruiter avenues, SIP 2026, 400+ students</a:t>
            </a:r>
            <a:endParaRPr lang="en-US" sz="1100" dirty="0"/>
          </a:p>
        </p:txBody>
      </p:sp>
      <p:sp>
        <p:nvSpPr>
          <p:cNvPr id="24" name="at-l-37"/>
          <p:cNvSpPr txBox="1"/>
          <p:nvPr/>
        </p:nvSpPr>
        <p:spPr>
          <a:xfrm>
            <a:off x="4023360" y="40873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</a:rPr>
              <a:t>CONSISTENCY</a:t>
            </a:r>
            <a:endParaRPr lang="en-US" sz="1300" dirty="0"/>
          </a:p>
        </p:txBody>
      </p:sp>
      <p:sp>
        <p:nvSpPr>
          <p:cNvPr id="25" name="at-v-38"/>
          <p:cNvSpPr txBox="1"/>
          <p:nvPr/>
        </p:nvSpPr>
        <p:spPr>
          <a:xfrm>
            <a:off x="10835640" y="40507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5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900" dirty="0"/>
          </a:p>
        </p:txBody>
      </p:sp>
      <p:sp>
        <p:nvSpPr>
          <p:cNvPr id="26" name="at-tr-39"/>
          <p:cNvSpPr/>
          <p:nvPr/>
        </p:nvSpPr>
        <p:spPr>
          <a:xfrm>
            <a:off x="4023360" y="4379976"/>
            <a:ext cx="7635240" cy="1188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at-fl-40"/>
          <p:cNvSpPr/>
          <p:nvPr/>
        </p:nvSpPr>
        <p:spPr>
          <a:xfrm>
            <a:off x="4023360" y="4379976"/>
            <a:ext cx="7253478" cy="118872"/>
          </a:xfrm>
          <a:prstGeom prst="rect">
            <a:avLst/>
          </a:prstGeom>
          <a:solidFill>
            <a:srgbClr val="15E0D0"/>
          </a:solidFill>
          <a:ln w="12700">
            <a:solidFill>
              <a:srgbClr val="15E0D0"/>
            </a:solidFill>
            <a:prstDash val="solid"/>
          </a:ln>
        </p:spPr>
      </p:sp>
      <p:sp>
        <p:nvSpPr>
          <p:cNvPr id="28" name="at-n-41"/>
          <p:cNvSpPr txBox="1"/>
          <p:nvPr/>
        </p:nvSpPr>
        <p:spPr>
          <a:xfrm>
            <a:off x="4023360" y="4526280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95.0% · 92.8% · 91.40% / 8.635 CGPA, four roles at once</a:t>
            </a:r>
            <a:endParaRPr lang="en-US" sz="1100" dirty="0"/>
          </a:p>
        </p:txBody>
      </p:sp>
      <p:sp>
        <p:nvSpPr>
          <p:cNvPr id="29" name="at-l-42"/>
          <p:cNvSpPr txBox="1"/>
          <p:nvPr/>
        </p:nvSpPr>
        <p:spPr>
          <a:xfrm>
            <a:off x="4023360" y="48554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</a:rPr>
              <a:t>MARKETING &amp; OUTREACH</a:t>
            </a:r>
            <a:endParaRPr lang="en-US" sz="1300" dirty="0"/>
          </a:p>
        </p:txBody>
      </p:sp>
      <p:sp>
        <p:nvSpPr>
          <p:cNvPr id="30" name="at-v-43"/>
          <p:cNvSpPr txBox="1"/>
          <p:nvPr/>
        </p:nvSpPr>
        <p:spPr>
          <a:xfrm>
            <a:off x="10835640" y="48188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FD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900" dirty="0"/>
          </a:p>
        </p:txBody>
      </p:sp>
      <p:sp>
        <p:nvSpPr>
          <p:cNvPr id="31" name="at-tr-44"/>
          <p:cNvSpPr/>
          <p:nvPr/>
        </p:nvSpPr>
        <p:spPr>
          <a:xfrm>
            <a:off x="4023360" y="5148072"/>
            <a:ext cx="7635240" cy="1188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at-fl-45"/>
          <p:cNvSpPr/>
          <p:nvPr/>
        </p:nvSpPr>
        <p:spPr>
          <a:xfrm>
            <a:off x="4023360" y="5148072"/>
            <a:ext cx="7100773" cy="118872"/>
          </a:xfrm>
          <a:prstGeom prst="rect">
            <a:avLst/>
          </a:prstGeom>
          <a:solidFill>
            <a:srgbClr val="2FD16D"/>
          </a:solidFill>
          <a:ln w="12700">
            <a:solidFill>
              <a:srgbClr val="2FD16D"/>
            </a:solidFill>
            <a:prstDash val="solid"/>
          </a:ln>
        </p:spPr>
      </p:sp>
      <p:sp>
        <p:nvSpPr>
          <p:cNvPr id="33" name="at-n-46"/>
          <p:cNvSpPr txBox="1"/>
          <p:nvPr/>
        </p:nvSpPr>
        <p:spPr>
          <a:xfrm>
            <a:off x="4023360" y="5294376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7,000+ community at HIPPOS, 2,000 LinkedIn for Team Knox</a:t>
            </a:r>
            <a:endParaRPr lang="en-US" sz="1100" dirty="0"/>
          </a:p>
        </p:txBody>
      </p:sp>
      <p:sp>
        <p:nvSpPr>
          <p:cNvPr id="34" name="at-l-47"/>
          <p:cNvSpPr txBox="1"/>
          <p:nvPr/>
        </p:nvSpPr>
        <p:spPr>
          <a:xfrm>
            <a:off x="4023360" y="56235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</a:rPr>
              <a:t>PRESSURE MANAGEMENT</a:t>
            </a:r>
            <a:endParaRPr lang="en-US" sz="1300" dirty="0"/>
          </a:p>
        </p:txBody>
      </p:sp>
      <p:sp>
        <p:nvSpPr>
          <p:cNvPr id="35" name="at-v-48"/>
          <p:cNvSpPr txBox="1"/>
          <p:nvPr/>
        </p:nvSpPr>
        <p:spPr>
          <a:xfrm>
            <a:off x="10835640" y="558698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900" dirty="0"/>
          </a:p>
        </p:txBody>
      </p:sp>
      <p:sp>
        <p:nvSpPr>
          <p:cNvPr id="36" name="at-tr-49"/>
          <p:cNvSpPr/>
          <p:nvPr/>
        </p:nvSpPr>
        <p:spPr>
          <a:xfrm>
            <a:off x="4023360" y="5916168"/>
            <a:ext cx="7635240" cy="1188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at-fl-50"/>
          <p:cNvSpPr/>
          <p:nvPr/>
        </p:nvSpPr>
        <p:spPr>
          <a:xfrm>
            <a:off x="4023360" y="5916168"/>
            <a:ext cx="6948068" cy="118872"/>
          </a:xfrm>
          <a:prstGeom prst="rect">
            <a:avLst/>
          </a:prstGeom>
          <a:solidFill>
            <a:srgbClr val="6EA8FF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38" name="at-n-51"/>
          <p:cNvSpPr txBox="1"/>
          <p:nvPr/>
        </p:nvSpPr>
        <p:spPr>
          <a:xfrm>
            <a:off x="4023360" y="6062472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Rank 58 of 5,276 at the Bajaj Finserv Atom CEO Challenge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8303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2240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E8303A"/>
                </a:solidFill>
              </a:rPr>
              <a:t>SECTION 02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68680" y="26517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cards, six strengths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914400" y="39319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2A6BA"/>
                </a:solidFill>
              </a:rPr>
              <a:t>The front is the claim. The back is the receipt.</a:t>
            </a:r>
            <a:endParaRPr lang="en-US" sz="1600" dirty="0"/>
          </a:p>
        </p:txBody>
      </p:sp>
      <p:sp>
        <p:nvSpPr>
          <p:cNvPr id="5" name="mini-card-52"/>
          <p:cNvSpPr/>
          <p:nvPr/>
        </p:nvSpPr>
        <p:spPr>
          <a:xfrm>
            <a:off x="914400" y="5349240"/>
            <a:ext cx="420624" cy="566928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9050">
            <a:solidFill>
              <a:srgbClr val="FFC14D"/>
            </a:solidFill>
            <a:prstDash val="solid"/>
          </a:ln>
        </p:spPr>
      </p:sp>
      <p:sp>
        <p:nvSpPr>
          <p:cNvPr id="6" name="mini-card-53"/>
          <p:cNvSpPr/>
          <p:nvPr/>
        </p:nvSpPr>
        <p:spPr>
          <a:xfrm>
            <a:off x="1481328" y="5349240"/>
            <a:ext cx="420624" cy="566928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9050">
            <a:solidFill>
              <a:srgbClr val="E8303A"/>
            </a:solidFill>
            <a:prstDash val="solid"/>
          </a:ln>
        </p:spPr>
      </p:sp>
      <p:sp>
        <p:nvSpPr>
          <p:cNvPr id="7" name="mini-card-54"/>
          <p:cNvSpPr/>
          <p:nvPr/>
        </p:nvSpPr>
        <p:spPr>
          <a:xfrm>
            <a:off x="2048256" y="5349240"/>
            <a:ext cx="420624" cy="566928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9050">
            <a:solidFill>
              <a:srgbClr val="B14DFF"/>
            </a:solidFill>
            <a:prstDash val="solid"/>
          </a:ln>
        </p:spPr>
      </p:sp>
      <p:sp>
        <p:nvSpPr>
          <p:cNvPr id="8" name="mini-card-55"/>
          <p:cNvSpPr/>
          <p:nvPr/>
        </p:nvSpPr>
        <p:spPr>
          <a:xfrm>
            <a:off x="2615184" y="5349240"/>
            <a:ext cx="420624" cy="566928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9050">
            <a:solidFill>
              <a:srgbClr val="15E0D0"/>
            </a:solidFill>
            <a:prstDash val="solid"/>
          </a:ln>
        </p:spPr>
      </p:sp>
      <p:sp>
        <p:nvSpPr>
          <p:cNvPr id="9" name="mini-card-56"/>
          <p:cNvSpPr/>
          <p:nvPr/>
        </p:nvSpPr>
        <p:spPr>
          <a:xfrm>
            <a:off x="3182112" y="5349240"/>
            <a:ext cx="420624" cy="566928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9050">
            <a:solidFill>
              <a:srgbClr val="2FD16D"/>
            </a:solidFill>
            <a:prstDash val="solid"/>
          </a:ln>
        </p:spPr>
      </p:sp>
      <p:sp>
        <p:nvSpPr>
          <p:cNvPr id="10" name="mini-card-57"/>
          <p:cNvSpPr/>
          <p:nvPr/>
        </p:nvSpPr>
        <p:spPr>
          <a:xfrm>
            <a:off x="3749040" y="5349240"/>
            <a:ext cx="420624" cy="566928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9050">
            <a:solidFill>
              <a:srgbClr val="6EA8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303A"/>
                </a:solidFill>
              </a:rPr>
              <a:t>SECTION 02 — THE DECK  ·  1 OF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50" kern="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build, and what I build with people</a:t>
            </a:r>
            <a:endParaRPr lang="en-US" sz="3600" dirty="0"/>
          </a:p>
        </p:txBody>
      </p:sp>
      <p:sp>
        <p:nvSpPr>
          <p:cNvPr id="4" name="panel-58"/>
          <p:cNvSpPr/>
          <p:nvPr/>
        </p:nvSpPr>
        <p:spPr>
          <a:xfrm>
            <a:off x="777240" y="1572768"/>
            <a:ext cx="3291840" cy="457200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9525">
            <a:solidFill>
              <a:srgbClr val="FFC14D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5" name="rar-59"/>
          <p:cNvSpPr/>
          <p:nvPr/>
        </p:nvSpPr>
        <p:spPr>
          <a:xfrm>
            <a:off x="978408" y="1792224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FFC14D"/>
          </a:solidFill>
          <a:ln w="12700">
            <a:solidFill>
              <a:srgbClr val="FFC14D"/>
            </a:solidFill>
            <a:prstDash val="solid"/>
          </a:ln>
        </p:spPr>
      </p:sp>
      <p:sp>
        <p:nvSpPr>
          <p:cNvPr id="6" name="rar-t-60"/>
          <p:cNvSpPr txBox="1"/>
          <p:nvPr/>
        </p:nvSpPr>
        <p:spPr>
          <a:xfrm>
            <a:off x="978408" y="1792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0D12"/>
                </a:solidFill>
              </a:rPr>
              <a:t>LEGENDARY</a:t>
            </a:r>
            <a:endParaRPr lang="en-US" sz="900" dirty="0"/>
          </a:p>
        </p:txBody>
      </p:sp>
      <p:sp>
        <p:nvSpPr>
          <p:cNvPr id="7" name="c-ovr-61"/>
          <p:cNvSpPr txBox="1"/>
          <p:nvPr/>
        </p:nvSpPr>
        <p:spPr>
          <a:xfrm>
            <a:off x="2880360" y="17007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3000" dirty="0"/>
          </a:p>
        </p:txBody>
      </p:sp>
      <p:sp>
        <p:nvSpPr>
          <p:cNvPr id="8" name="c-ovrk-62"/>
          <p:cNvSpPr txBox="1"/>
          <p:nvPr/>
        </p:nvSpPr>
        <p:spPr>
          <a:xfrm>
            <a:off x="2880360" y="2139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chemeClr val="tx2"/>
                </a:solidFill>
              </a:rPr>
              <a:t>RATING</a:t>
            </a:r>
            <a:endParaRPr lang="en-US" sz="800" dirty="0"/>
          </a:p>
        </p:txBody>
      </p:sp>
      <p:sp>
        <p:nvSpPr>
          <p:cNvPr id="9" name="ring-63"/>
          <p:cNvSpPr/>
          <p:nvPr/>
        </p:nvSpPr>
        <p:spPr>
          <a:xfrm>
            <a:off x="2011680" y="2487168"/>
            <a:ext cx="822960" cy="822960"/>
          </a:xfrm>
          <a:prstGeom prst="ellipse">
            <a:avLst/>
          </a:prstGeom>
          <a:solidFill>
            <a:schemeClr val="bg1"/>
          </a:solidFill>
          <a:ln w="22225">
            <a:solidFill>
              <a:srgbClr val="FFC14D"/>
            </a:solidFill>
            <a:prstDash val="solid"/>
          </a:ln>
        </p:spPr>
      </p:sp>
      <p:sp>
        <p:nvSpPr>
          <p:cNvPr id="10" name="ring-label-64"/>
          <p:cNvSpPr txBox="1"/>
          <p:nvPr/>
        </p:nvSpPr>
        <p:spPr>
          <a:xfrm>
            <a:off x="2011680" y="2487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2000" dirty="0"/>
          </a:p>
        </p:txBody>
      </p:sp>
      <p:sp>
        <p:nvSpPr>
          <p:cNvPr id="11" name="c-t-65"/>
          <p:cNvSpPr txBox="1"/>
          <p:nvPr/>
        </p:nvSpPr>
        <p:spPr>
          <a:xfrm>
            <a:off x="978408" y="3447288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-3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CODE</a:t>
            </a:r>
            <a:endParaRPr lang="en-US" sz="1700" dirty="0"/>
          </a:p>
        </p:txBody>
      </p:sp>
      <p:sp>
        <p:nvSpPr>
          <p:cNvPr id="12" name="c-s-66"/>
          <p:cNvSpPr txBox="1"/>
          <p:nvPr/>
        </p:nvSpPr>
        <p:spPr>
          <a:xfrm>
            <a:off x="978408" y="376732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chemeClr val="tx2"/>
                </a:solidFill>
              </a:rPr>
              <a:t>AI &amp; DATA · SPECIAL ABILITY</a:t>
            </a:r>
            <a:endParaRPr lang="en-US" sz="900" dirty="0"/>
          </a:p>
        </p:txBody>
      </p:sp>
      <p:sp>
        <p:nvSpPr>
          <p:cNvPr id="13" name="c-p-67"/>
          <p:cNvSpPr txBox="1"/>
          <p:nvPr/>
        </p:nvSpPr>
        <p:spPr>
          <a:xfrm>
            <a:off x="996696" y="4005072"/>
            <a:ext cx="285292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Built a live F1 analytics platform with Claude Code — race strategy, performance and driver insights.</a:t>
            </a:r>
            <a:endParaRPr lang="en-US" sz="1150" dirty="0"/>
          </a:p>
          <a:p>
            <a:pPr marL="139700" indent="-1397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Monte Carlo simulations for outcome modelling, plus a world news tracker on an interactive map.</a:t>
            </a:r>
            <a:endParaRPr lang="en-US" sz="1150" dirty="0"/>
          </a:p>
        </p:txBody>
      </p:sp>
      <p:sp>
        <p:nvSpPr>
          <p:cNvPr id="14" name="c-stat-68"/>
          <p:cNvSpPr txBox="1"/>
          <p:nvPr/>
        </p:nvSpPr>
        <p:spPr>
          <a:xfrm>
            <a:off x="996696" y="55961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pPr indent="0" marL="0">
              <a:buNone/>
            </a:pPr>
            <a:r>
              <a:rPr lang="en-US" sz="900" spc="100" kern="0" dirty="0">
                <a:solidFill>
                  <a:schemeClr val="tx2"/>
                </a:solidFill>
              </a:rPr>
              <a:t>   PRODUCTS SHIPPED WITH AI</a:t>
            </a:r>
            <a:endParaRPr lang="en-US" sz="1700" dirty="0"/>
          </a:p>
        </p:txBody>
      </p:sp>
      <p:sp>
        <p:nvSpPr>
          <p:cNvPr id="15" name="panel-69"/>
          <p:cNvSpPr/>
          <p:nvPr/>
        </p:nvSpPr>
        <p:spPr>
          <a:xfrm>
            <a:off x="4434840" y="1572768"/>
            <a:ext cx="3291840" cy="457200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9525">
            <a:solidFill>
              <a:srgbClr val="E8303A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16" name="rar-70"/>
          <p:cNvSpPr/>
          <p:nvPr/>
        </p:nvSpPr>
        <p:spPr>
          <a:xfrm>
            <a:off x="4636008" y="1792224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FFC14D"/>
          </a:solidFill>
          <a:ln w="12700">
            <a:solidFill>
              <a:srgbClr val="FFC14D"/>
            </a:solidFill>
            <a:prstDash val="solid"/>
          </a:ln>
        </p:spPr>
      </p:sp>
      <p:sp>
        <p:nvSpPr>
          <p:cNvPr id="17" name="rar-t-71"/>
          <p:cNvSpPr txBox="1"/>
          <p:nvPr/>
        </p:nvSpPr>
        <p:spPr>
          <a:xfrm>
            <a:off x="4636008" y="1792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0D12"/>
                </a:solidFill>
              </a:rPr>
              <a:t>LEGENDARY</a:t>
            </a:r>
            <a:endParaRPr lang="en-US" sz="900" dirty="0"/>
          </a:p>
        </p:txBody>
      </p:sp>
      <p:sp>
        <p:nvSpPr>
          <p:cNvPr id="18" name="c-ovr-72"/>
          <p:cNvSpPr txBox="1"/>
          <p:nvPr/>
        </p:nvSpPr>
        <p:spPr>
          <a:xfrm>
            <a:off x="6537960" y="17007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3000" dirty="0"/>
          </a:p>
        </p:txBody>
      </p:sp>
      <p:sp>
        <p:nvSpPr>
          <p:cNvPr id="19" name="c-ovrk-73"/>
          <p:cNvSpPr txBox="1"/>
          <p:nvPr/>
        </p:nvSpPr>
        <p:spPr>
          <a:xfrm>
            <a:off x="6537960" y="2139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chemeClr val="tx2"/>
                </a:solidFill>
              </a:rPr>
              <a:t>RATING</a:t>
            </a:r>
            <a:endParaRPr lang="en-US" sz="800" dirty="0"/>
          </a:p>
        </p:txBody>
      </p:sp>
      <p:sp>
        <p:nvSpPr>
          <p:cNvPr id="20" name="ring-74"/>
          <p:cNvSpPr/>
          <p:nvPr/>
        </p:nvSpPr>
        <p:spPr>
          <a:xfrm>
            <a:off x="5669280" y="2487168"/>
            <a:ext cx="822960" cy="822960"/>
          </a:xfrm>
          <a:prstGeom prst="ellipse">
            <a:avLst/>
          </a:prstGeom>
          <a:solidFill>
            <a:schemeClr val="bg1"/>
          </a:solidFill>
          <a:ln w="22225">
            <a:solidFill>
              <a:srgbClr val="E8303A"/>
            </a:solidFill>
            <a:prstDash val="solid"/>
          </a:ln>
        </p:spPr>
      </p:sp>
      <p:sp>
        <p:nvSpPr>
          <p:cNvPr id="21" name="ring-label-75"/>
          <p:cNvSpPr txBox="1"/>
          <p:nvPr/>
        </p:nvSpPr>
        <p:spPr>
          <a:xfrm>
            <a:off x="5669280" y="2487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2000" dirty="0"/>
          </a:p>
        </p:txBody>
      </p:sp>
      <p:sp>
        <p:nvSpPr>
          <p:cNvPr id="22" name="c-t-76"/>
          <p:cNvSpPr txBox="1"/>
          <p:nvPr/>
        </p:nvSpPr>
        <p:spPr>
          <a:xfrm>
            <a:off x="4636008" y="3447288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-3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ARCHITECT</a:t>
            </a:r>
            <a:endParaRPr lang="en-US" sz="1700" dirty="0"/>
          </a:p>
        </p:txBody>
      </p:sp>
      <p:sp>
        <p:nvSpPr>
          <p:cNvPr id="23" name="c-s-77"/>
          <p:cNvSpPr txBox="1"/>
          <p:nvPr/>
        </p:nvSpPr>
        <p:spPr>
          <a:xfrm>
            <a:off x="4636008" y="376732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chemeClr val="tx2"/>
                </a:solidFill>
              </a:rPr>
              <a:t>LEADERSHIP · BUILD FROM ZERO</a:t>
            </a:r>
            <a:endParaRPr lang="en-US" sz="900" dirty="0"/>
          </a:p>
        </p:txBody>
      </p:sp>
      <p:sp>
        <p:nvSpPr>
          <p:cNvPr id="24" name="c-p-78"/>
          <p:cNvSpPr txBox="1"/>
          <p:nvPr/>
        </p:nvSpPr>
        <p:spPr>
          <a:xfrm>
            <a:off x="4654296" y="4005072"/>
            <a:ext cx="285292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Marketing Head, Team Knox, IIT Roorkee. There was no marketing vertical — I built it.</a:t>
            </a:r>
            <a:endParaRPr lang="en-US" sz="1150" dirty="0"/>
          </a:p>
          <a:p>
            <a:pPr marL="139700" indent="-1397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Rank 84 to the Top 10 amongst 150+ teams, and Rank 7 twice over — 2021 and 2022.</a:t>
            </a:r>
            <a:endParaRPr lang="en-US" sz="1150" dirty="0"/>
          </a:p>
        </p:txBody>
      </p:sp>
      <p:sp>
        <p:nvSpPr>
          <p:cNvPr id="25" name="c-stat-79"/>
          <p:cNvSpPr txBox="1"/>
          <p:nvPr/>
        </p:nvSpPr>
        <p:spPr>
          <a:xfrm>
            <a:off x="4654296" y="55961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P84 → P7</a:t>
            </a:r>
            <a:pPr indent="0" marL="0">
              <a:buNone/>
            </a:pPr>
            <a:r>
              <a:rPr lang="en-US" sz="900" spc="100" kern="0" dirty="0">
                <a:solidFill>
                  <a:schemeClr val="tx2"/>
                </a:solidFill>
              </a:rPr>
              <a:t>   POSITIONS CLIMBED</a:t>
            </a:r>
            <a:endParaRPr lang="en-US" sz="1700" dirty="0"/>
          </a:p>
        </p:txBody>
      </p:sp>
      <p:sp>
        <p:nvSpPr>
          <p:cNvPr id="26" name="panel-80"/>
          <p:cNvSpPr/>
          <p:nvPr/>
        </p:nvSpPr>
        <p:spPr>
          <a:xfrm>
            <a:off x="8092440" y="1572768"/>
            <a:ext cx="3291840" cy="457200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9525">
            <a:solidFill>
              <a:srgbClr val="B14D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27" name="rar-81"/>
          <p:cNvSpPr/>
          <p:nvPr/>
        </p:nvSpPr>
        <p:spPr>
          <a:xfrm>
            <a:off x="8293608" y="1792224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B14DFF"/>
          </a:solidFill>
          <a:ln w="12700">
            <a:solidFill>
              <a:srgbClr val="B14DFF"/>
            </a:solidFill>
            <a:prstDash val="solid"/>
          </a:ln>
        </p:spPr>
      </p:sp>
      <p:sp>
        <p:nvSpPr>
          <p:cNvPr id="28" name="rar-t-82"/>
          <p:cNvSpPr txBox="1"/>
          <p:nvPr/>
        </p:nvSpPr>
        <p:spPr>
          <a:xfrm>
            <a:off x="8293608" y="1792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0D12"/>
                </a:solidFill>
              </a:rPr>
              <a:t>EPIC</a:t>
            </a:r>
            <a:endParaRPr lang="en-US" sz="900" dirty="0"/>
          </a:p>
        </p:txBody>
      </p:sp>
      <p:sp>
        <p:nvSpPr>
          <p:cNvPr id="29" name="c-ovr-83"/>
          <p:cNvSpPr txBox="1"/>
          <p:nvPr/>
        </p:nvSpPr>
        <p:spPr>
          <a:xfrm>
            <a:off x="10195560" y="17007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3000" dirty="0"/>
          </a:p>
        </p:txBody>
      </p:sp>
      <p:sp>
        <p:nvSpPr>
          <p:cNvPr id="30" name="c-ovrk-84"/>
          <p:cNvSpPr txBox="1"/>
          <p:nvPr/>
        </p:nvSpPr>
        <p:spPr>
          <a:xfrm>
            <a:off x="10195560" y="2139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chemeClr val="tx2"/>
                </a:solidFill>
              </a:rPr>
              <a:t>RATING</a:t>
            </a:r>
            <a:endParaRPr lang="en-US" sz="800" dirty="0"/>
          </a:p>
        </p:txBody>
      </p:sp>
      <p:sp>
        <p:nvSpPr>
          <p:cNvPr id="31" name="ring-85"/>
          <p:cNvSpPr/>
          <p:nvPr/>
        </p:nvSpPr>
        <p:spPr>
          <a:xfrm>
            <a:off x="9326880" y="2487168"/>
            <a:ext cx="822960" cy="822960"/>
          </a:xfrm>
          <a:prstGeom prst="ellipse">
            <a:avLst/>
          </a:prstGeom>
          <a:solidFill>
            <a:schemeClr val="bg1"/>
          </a:solidFill>
          <a:ln w="22225">
            <a:solidFill>
              <a:srgbClr val="B14DFF"/>
            </a:solidFill>
            <a:prstDash val="solid"/>
          </a:ln>
        </p:spPr>
      </p:sp>
      <p:sp>
        <p:nvSpPr>
          <p:cNvPr id="32" name="ring-label-86"/>
          <p:cNvSpPr txBox="1"/>
          <p:nvPr/>
        </p:nvSpPr>
        <p:spPr>
          <a:xfrm>
            <a:off x="9326880" y="2487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1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2000" dirty="0"/>
          </a:p>
        </p:txBody>
      </p:sp>
      <p:sp>
        <p:nvSpPr>
          <p:cNvPr id="33" name="c-t-87"/>
          <p:cNvSpPr txBox="1"/>
          <p:nvPr/>
        </p:nvSpPr>
        <p:spPr>
          <a:xfrm>
            <a:off x="8293608" y="3447288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-3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PODIUM MAKER</a:t>
            </a:r>
            <a:endParaRPr lang="en-US" sz="1700" dirty="0"/>
          </a:p>
        </p:txBody>
      </p:sp>
      <p:sp>
        <p:nvSpPr>
          <p:cNvPr id="34" name="c-s-88"/>
          <p:cNvSpPr txBox="1"/>
          <p:nvPr/>
        </p:nvSpPr>
        <p:spPr>
          <a:xfrm>
            <a:off x="8293608" y="376732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chemeClr val="tx2"/>
                </a:solidFill>
              </a:rPr>
              <a:t>MENTORSHIP · LEGACY</a:t>
            </a:r>
            <a:endParaRPr lang="en-US" sz="900" dirty="0"/>
          </a:p>
        </p:txBody>
      </p:sp>
      <p:sp>
        <p:nvSpPr>
          <p:cNvPr id="35" name="c-p-89"/>
          <p:cNvSpPr txBox="1"/>
          <p:nvPr/>
        </p:nvSpPr>
        <p:spPr>
          <a:xfrm>
            <a:off x="8311896" y="4005072"/>
            <a:ext cx="285292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After graduating I kept mentoring the junior Team Knox squad through the handover.</a:t>
            </a:r>
            <a:endParaRPr lang="en-US" sz="1150" dirty="0"/>
          </a:p>
          <a:p>
            <a:pPr marL="139700" indent="-1397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They took 3rd in Cost Evaluation at BAJA SAE India 2023 — with me off the roster.</a:t>
            </a:r>
            <a:endParaRPr lang="en-US" sz="1150" dirty="0"/>
          </a:p>
        </p:txBody>
      </p:sp>
      <p:sp>
        <p:nvSpPr>
          <p:cNvPr id="36" name="c-stat-90"/>
          <p:cNvSpPr txBox="1"/>
          <p:nvPr/>
        </p:nvSpPr>
        <p:spPr>
          <a:xfrm>
            <a:off x="8311896" y="55961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1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pPr indent="0" marL="0">
              <a:buNone/>
            </a:pPr>
            <a:r>
              <a:rPr lang="en-US" sz="900" spc="100" kern="0" dirty="0">
                <a:solidFill>
                  <a:schemeClr val="tx2"/>
                </a:solidFill>
              </a:rPr>
              <a:t>   WITHOUT ME IN THE CAR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8303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303A"/>
                </a:solidFill>
              </a:rPr>
              <a:t>SECTION 02 — THE DECK  ·  2 OF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50" kern="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hold steady, and who I hold it for</a:t>
            </a:r>
            <a:endParaRPr lang="en-US" sz="3600" dirty="0"/>
          </a:p>
        </p:txBody>
      </p:sp>
      <p:sp>
        <p:nvSpPr>
          <p:cNvPr id="4" name="panel-91"/>
          <p:cNvSpPr/>
          <p:nvPr/>
        </p:nvSpPr>
        <p:spPr>
          <a:xfrm>
            <a:off x="777240" y="1572768"/>
            <a:ext cx="3291840" cy="457200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9525">
            <a:solidFill>
              <a:srgbClr val="15E0D0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5" name="rar-92"/>
          <p:cNvSpPr/>
          <p:nvPr/>
        </p:nvSpPr>
        <p:spPr>
          <a:xfrm>
            <a:off x="978408" y="1792224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B14DFF"/>
          </a:solidFill>
          <a:ln w="12700">
            <a:solidFill>
              <a:srgbClr val="B14DFF"/>
            </a:solidFill>
            <a:prstDash val="solid"/>
          </a:ln>
        </p:spPr>
      </p:sp>
      <p:sp>
        <p:nvSpPr>
          <p:cNvPr id="6" name="rar-t-93"/>
          <p:cNvSpPr txBox="1"/>
          <p:nvPr/>
        </p:nvSpPr>
        <p:spPr>
          <a:xfrm>
            <a:off x="978408" y="1792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0D12"/>
                </a:solidFill>
              </a:rPr>
              <a:t>EPIC</a:t>
            </a:r>
            <a:endParaRPr lang="en-US" sz="900" dirty="0"/>
          </a:p>
        </p:txBody>
      </p:sp>
      <p:sp>
        <p:nvSpPr>
          <p:cNvPr id="7" name="c-ovr-94"/>
          <p:cNvSpPr txBox="1"/>
          <p:nvPr/>
        </p:nvSpPr>
        <p:spPr>
          <a:xfrm>
            <a:off x="2880360" y="17007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3000" dirty="0"/>
          </a:p>
        </p:txBody>
      </p:sp>
      <p:sp>
        <p:nvSpPr>
          <p:cNvPr id="8" name="c-ovrk-95"/>
          <p:cNvSpPr txBox="1"/>
          <p:nvPr/>
        </p:nvSpPr>
        <p:spPr>
          <a:xfrm>
            <a:off x="2880360" y="2139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chemeClr val="tx2"/>
                </a:solidFill>
              </a:rPr>
              <a:t>RATING</a:t>
            </a:r>
            <a:endParaRPr lang="en-US" sz="800" dirty="0"/>
          </a:p>
        </p:txBody>
      </p:sp>
      <p:sp>
        <p:nvSpPr>
          <p:cNvPr id="9" name="ring-96"/>
          <p:cNvSpPr/>
          <p:nvPr/>
        </p:nvSpPr>
        <p:spPr>
          <a:xfrm>
            <a:off x="2011680" y="2487168"/>
            <a:ext cx="822960" cy="822960"/>
          </a:xfrm>
          <a:prstGeom prst="ellipse">
            <a:avLst/>
          </a:prstGeom>
          <a:solidFill>
            <a:schemeClr val="bg1"/>
          </a:solidFill>
          <a:ln w="22225">
            <a:solidFill>
              <a:srgbClr val="15E0D0"/>
            </a:solidFill>
            <a:prstDash val="solid"/>
          </a:ln>
        </p:spPr>
      </p:sp>
      <p:sp>
        <p:nvSpPr>
          <p:cNvPr id="10" name="ring-label-97"/>
          <p:cNvSpPr txBox="1"/>
          <p:nvPr/>
        </p:nvSpPr>
        <p:spPr>
          <a:xfrm>
            <a:off x="2011680" y="2487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2000" dirty="0"/>
          </a:p>
        </p:txBody>
      </p:sp>
      <p:sp>
        <p:nvSpPr>
          <p:cNvPr id="11" name="c-t-98"/>
          <p:cNvSpPr txBox="1"/>
          <p:nvPr/>
        </p:nvSpPr>
        <p:spPr>
          <a:xfrm>
            <a:off x="978408" y="3447288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-3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ENGINE</a:t>
            </a:r>
            <a:endParaRPr lang="en-US" sz="1700" dirty="0"/>
          </a:p>
        </p:txBody>
      </p:sp>
      <p:sp>
        <p:nvSpPr>
          <p:cNvPr id="12" name="c-s-99"/>
          <p:cNvSpPr txBox="1"/>
          <p:nvPr/>
        </p:nvSpPr>
        <p:spPr>
          <a:xfrm>
            <a:off x="978408" y="376732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chemeClr val="tx2"/>
                </a:solidFill>
              </a:rPr>
              <a:t>ACADEMICS UNDER LOAD</a:t>
            </a:r>
            <a:endParaRPr lang="en-US" sz="900" dirty="0"/>
          </a:p>
        </p:txBody>
      </p:sp>
      <p:sp>
        <p:nvSpPr>
          <p:cNvPr id="13" name="c-p-100"/>
          <p:cNvSpPr txBox="1"/>
          <p:nvPr/>
        </p:nvSpPr>
        <p:spPr>
          <a:xfrm>
            <a:off x="996696" y="4005072"/>
            <a:ext cx="285292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95.00% in Class X, 92.80% in Class XII, and 91.40% / 8.635 CGPA at IIT Roorkee.</a:t>
            </a:r>
            <a:endParaRPr lang="en-US" sz="1150" dirty="0"/>
          </a:p>
          <a:p>
            <a:pPr marL="139700" indent="-1397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First Division with Distinction — while running marketing, a subsystem and a tutoring programme.</a:t>
            </a:r>
            <a:endParaRPr lang="en-US" sz="1150" dirty="0"/>
          </a:p>
        </p:txBody>
      </p:sp>
      <p:sp>
        <p:nvSpPr>
          <p:cNvPr id="14" name="c-stat-101"/>
          <p:cNvSpPr txBox="1"/>
          <p:nvPr/>
        </p:nvSpPr>
        <p:spPr>
          <a:xfrm>
            <a:off x="996696" y="55961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90%+</a:t>
            </a:r>
            <a:pPr indent="0" marL="0">
              <a:buNone/>
            </a:pPr>
            <a:r>
              <a:rPr lang="en-US" sz="900" spc="100" kern="0" dirty="0">
                <a:solidFill>
                  <a:schemeClr val="tx2"/>
                </a:solidFill>
              </a:rPr>
              <a:t>   ACROSS X, XII AND UG</a:t>
            </a:r>
            <a:endParaRPr lang="en-US" sz="1700" dirty="0"/>
          </a:p>
        </p:txBody>
      </p:sp>
      <p:sp>
        <p:nvSpPr>
          <p:cNvPr id="15" name="panel-102"/>
          <p:cNvSpPr/>
          <p:nvPr/>
        </p:nvSpPr>
        <p:spPr>
          <a:xfrm>
            <a:off x="4434840" y="1572768"/>
            <a:ext cx="3291840" cy="457200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9525">
            <a:solidFill>
              <a:srgbClr val="2FD16D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16" name="rar-103"/>
          <p:cNvSpPr/>
          <p:nvPr/>
        </p:nvSpPr>
        <p:spPr>
          <a:xfrm>
            <a:off x="4636008" y="1792224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B14DFF"/>
          </a:solidFill>
          <a:ln w="12700">
            <a:solidFill>
              <a:srgbClr val="B14DFF"/>
            </a:solidFill>
            <a:prstDash val="solid"/>
          </a:ln>
        </p:spPr>
      </p:sp>
      <p:sp>
        <p:nvSpPr>
          <p:cNvPr id="17" name="rar-t-104"/>
          <p:cNvSpPr txBox="1"/>
          <p:nvPr/>
        </p:nvSpPr>
        <p:spPr>
          <a:xfrm>
            <a:off x="4636008" y="1792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0D12"/>
                </a:solidFill>
              </a:rPr>
              <a:t>EPIC</a:t>
            </a:r>
            <a:endParaRPr lang="en-US" sz="900" dirty="0"/>
          </a:p>
        </p:txBody>
      </p:sp>
      <p:sp>
        <p:nvSpPr>
          <p:cNvPr id="18" name="c-ovr-105"/>
          <p:cNvSpPr txBox="1"/>
          <p:nvPr/>
        </p:nvSpPr>
        <p:spPr>
          <a:xfrm>
            <a:off x="6537960" y="17007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3000" dirty="0"/>
          </a:p>
        </p:txBody>
      </p:sp>
      <p:sp>
        <p:nvSpPr>
          <p:cNvPr id="19" name="c-ovrk-106"/>
          <p:cNvSpPr txBox="1"/>
          <p:nvPr/>
        </p:nvSpPr>
        <p:spPr>
          <a:xfrm>
            <a:off x="6537960" y="2139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chemeClr val="tx2"/>
                </a:solidFill>
              </a:rPr>
              <a:t>RATING</a:t>
            </a:r>
            <a:endParaRPr lang="en-US" sz="800" dirty="0"/>
          </a:p>
        </p:txBody>
      </p:sp>
      <p:sp>
        <p:nvSpPr>
          <p:cNvPr id="20" name="ring-107"/>
          <p:cNvSpPr/>
          <p:nvPr/>
        </p:nvSpPr>
        <p:spPr>
          <a:xfrm>
            <a:off x="5669280" y="2487168"/>
            <a:ext cx="822960" cy="822960"/>
          </a:xfrm>
          <a:prstGeom prst="ellipse">
            <a:avLst/>
          </a:prstGeom>
          <a:solidFill>
            <a:schemeClr val="bg1"/>
          </a:solidFill>
          <a:ln w="22225">
            <a:solidFill>
              <a:srgbClr val="2FD16D"/>
            </a:solidFill>
            <a:prstDash val="solid"/>
          </a:ln>
        </p:spPr>
      </p:sp>
      <p:sp>
        <p:nvSpPr>
          <p:cNvPr id="21" name="ring-label-108"/>
          <p:cNvSpPr txBox="1"/>
          <p:nvPr/>
        </p:nvSpPr>
        <p:spPr>
          <a:xfrm>
            <a:off x="5669280" y="2487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D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2000" dirty="0"/>
          </a:p>
        </p:txBody>
      </p:sp>
      <p:sp>
        <p:nvSpPr>
          <p:cNvPr id="22" name="c-t-109"/>
          <p:cNvSpPr txBox="1"/>
          <p:nvPr/>
        </p:nvSpPr>
        <p:spPr>
          <a:xfrm>
            <a:off x="4636008" y="3447288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-3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RADAR</a:t>
            </a:r>
            <a:endParaRPr lang="en-US" sz="1700" dirty="0"/>
          </a:p>
        </p:txBody>
      </p:sp>
      <p:sp>
        <p:nvSpPr>
          <p:cNvPr id="23" name="c-s-110"/>
          <p:cNvSpPr txBox="1"/>
          <p:nvPr/>
        </p:nvSpPr>
        <p:spPr>
          <a:xfrm>
            <a:off x="4636008" y="376732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chemeClr val="tx2"/>
                </a:solidFill>
              </a:rPr>
              <a:t>PLACEMENT OPERATIONS</a:t>
            </a:r>
            <a:endParaRPr lang="en-US" sz="900" dirty="0"/>
          </a:p>
        </p:txBody>
      </p:sp>
      <p:sp>
        <p:nvSpPr>
          <p:cNvPr id="24" name="c-p-111"/>
          <p:cNvSpPr txBox="1"/>
          <p:nvPr/>
        </p:nvSpPr>
        <p:spPr>
          <a:xfrm>
            <a:off x="4654296" y="4005072"/>
            <a:ext cx="285292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Corporate Support Committee, IIFT Kolkata — 100+ avenues of recruiter interaction executed.</a:t>
            </a:r>
            <a:endParaRPr lang="en-US" sz="1150" dirty="0"/>
          </a:p>
          <a:p>
            <a:pPr marL="139700" indent="-1397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Bridged the Placement Committee and the MBA-IB batch through the Summer Internship Process 2026.</a:t>
            </a:r>
            <a:endParaRPr lang="en-US" sz="1150" dirty="0"/>
          </a:p>
        </p:txBody>
      </p:sp>
      <p:sp>
        <p:nvSpPr>
          <p:cNvPr id="25" name="c-stat-112"/>
          <p:cNvSpPr txBox="1"/>
          <p:nvPr/>
        </p:nvSpPr>
        <p:spPr>
          <a:xfrm>
            <a:off x="4654296" y="55961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D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pPr indent="0" marL="0">
              <a:buNone/>
            </a:pPr>
            <a:r>
              <a:rPr lang="en-US" sz="900" spc="100" kern="0" dirty="0">
                <a:solidFill>
                  <a:schemeClr val="tx2"/>
                </a:solidFill>
              </a:rPr>
              <a:t>   RECRUITER AVENUES</a:t>
            </a:r>
            <a:endParaRPr lang="en-US" sz="1700" dirty="0"/>
          </a:p>
        </p:txBody>
      </p:sp>
      <p:sp>
        <p:nvSpPr>
          <p:cNvPr id="26" name="panel-113"/>
          <p:cNvSpPr/>
          <p:nvPr/>
        </p:nvSpPr>
        <p:spPr>
          <a:xfrm>
            <a:off x="8092440" y="1572768"/>
            <a:ext cx="3291840" cy="457200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9525">
            <a:solidFill>
              <a:srgbClr val="6EA8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27" name="rar-114"/>
          <p:cNvSpPr/>
          <p:nvPr/>
        </p:nvSpPr>
        <p:spPr>
          <a:xfrm>
            <a:off x="8293608" y="1792224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15E0D0"/>
          </a:solidFill>
          <a:ln w="12700">
            <a:solidFill>
              <a:srgbClr val="15E0D0"/>
            </a:solidFill>
            <a:prstDash val="solid"/>
          </a:ln>
        </p:spPr>
      </p:sp>
      <p:sp>
        <p:nvSpPr>
          <p:cNvPr id="28" name="rar-t-115"/>
          <p:cNvSpPr txBox="1"/>
          <p:nvPr/>
        </p:nvSpPr>
        <p:spPr>
          <a:xfrm>
            <a:off x="8293608" y="1792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0D12"/>
                </a:solidFill>
              </a:rPr>
              <a:t>RARE</a:t>
            </a:r>
            <a:endParaRPr lang="en-US" sz="900" dirty="0"/>
          </a:p>
        </p:txBody>
      </p:sp>
      <p:sp>
        <p:nvSpPr>
          <p:cNvPr id="29" name="c-ovr-116"/>
          <p:cNvSpPr txBox="1"/>
          <p:nvPr/>
        </p:nvSpPr>
        <p:spPr>
          <a:xfrm>
            <a:off x="10195560" y="17007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3000" dirty="0"/>
          </a:p>
        </p:txBody>
      </p:sp>
      <p:sp>
        <p:nvSpPr>
          <p:cNvPr id="30" name="c-ovrk-117"/>
          <p:cNvSpPr txBox="1"/>
          <p:nvPr/>
        </p:nvSpPr>
        <p:spPr>
          <a:xfrm>
            <a:off x="10195560" y="2139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chemeClr val="tx2"/>
                </a:solidFill>
              </a:rPr>
              <a:t>RATING</a:t>
            </a:r>
            <a:endParaRPr lang="en-US" sz="800" dirty="0"/>
          </a:p>
        </p:txBody>
      </p:sp>
      <p:sp>
        <p:nvSpPr>
          <p:cNvPr id="31" name="ring-118"/>
          <p:cNvSpPr/>
          <p:nvPr/>
        </p:nvSpPr>
        <p:spPr>
          <a:xfrm>
            <a:off x="9326880" y="2487168"/>
            <a:ext cx="822960" cy="822960"/>
          </a:xfrm>
          <a:prstGeom prst="ellipse">
            <a:avLst/>
          </a:prstGeom>
          <a:solidFill>
            <a:schemeClr val="bg1"/>
          </a:solidFill>
          <a:ln w="22225">
            <a:solidFill>
              <a:srgbClr val="6EA8FF"/>
            </a:solidFill>
            <a:prstDash val="solid"/>
          </a:ln>
        </p:spPr>
      </p:sp>
      <p:sp>
        <p:nvSpPr>
          <p:cNvPr id="32" name="ring-label-119"/>
          <p:cNvSpPr txBox="1"/>
          <p:nvPr/>
        </p:nvSpPr>
        <p:spPr>
          <a:xfrm>
            <a:off x="9326880" y="2487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2000" dirty="0"/>
          </a:p>
        </p:txBody>
      </p:sp>
      <p:sp>
        <p:nvSpPr>
          <p:cNvPr id="33" name="c-t-120"/>
          <p:cNvSpPr txBox="1"/>
          <p:nvPr/>
        </p:nvSpPr>
        <p:spPr>
          <a:xfrm>
            <a:off x="8293608" y="3447288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-3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 WALL COMMS</a:t>
            </a:r>
            <a:endParaRPr lang="en-US" sz="1700" dirty="0"/>
          </a:p>
        </p:txBody>
      </p:sp>
      <p:sp>
        <p:nvSpPr>
          <p:cNvPr id="34" name="c-s-121"/>
          <p:cNvSpPr txBox="1"/>
          <p:nvPr/>
        </p:nvSpPr>
        <p:spPr>
          <a:xfrm>
            <a:off x="8293608" y="376732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chemeClr val="tx2"/>
                </a:solidFill>
              </a:rPr>
              <a:t>OUTREACH &amp; COMMUNITY</a:t>
            </a:r>
            <a:endParaRPr lang="en-US" sz="900" dirty="0"/>
          </a:p>
        </p:txBody>
      </p:sp>
      <p:sp>
        <p:nvSpPr>
          <p:cNvPr id="35" name="c-p-122"/>
          <p:cNvSpPr txBox="1"/>
          <p:nvPr/>
        </p:nvSpPr>
        <p:spPr>
          <a:xfrm>
            <a:off x="8311896" y="4005072"/>
            <a:ext cx="285292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Founded HIPPOS — 7,000+ followers, 10+ writers and a weekly policy newsletter.</a:t>
            </a:r>
            <a:endParaRPr lang="en-US" sz="1150" dirty="0"/>
          </a:p>
          <a:p>
            <a:pPr marL="139700" indent="-1397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Took Team Knox to 2,000 LinkedIn followers; tutored 50+ juniors under IIT Roorkee's ARP.</a:t>
            </a:r>
            <a:endParaRPr lang="en-US" sz="1150" dirty="0"/>
          </a:p>
        </p:txBody>
      </p:sp>
      <p:sp>
        <p:nvSpPr>
          <p:cNvPr id="36" name="c-stat-123"/>
          <p:cNvSpPr txBox="1"/>
          <p:nvPr/>
        </p:nvSpPr>
        <p:spPr>
          <a:xfrm>
            <a:off x="8311896" y="55961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7,000+</a:t>
            </a:r>
            <a:pPr indent="0" marL="0">
              <a:buNone/>
            </a:pPr>
            <a:r>
              <a:rPr lang="en-US" sz="900" spc="100" kern="0" dirty="0">
                <a:solidFill>
                  <a:schemeClr val="tx2"/>
                </a:solidFill>
              </a:rPr>
              <a:t>   COMMUNITY BUILT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8303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303A"/>
                </a:solidFill>
              </a:rPr>
              <a:t>SECTION 03 — RACE TRACE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50" kern="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P84 → P7 → P3</a:t>
            </a:r>
            <a:endParaRPr lang="en-US" sz="3600" dirty="0"/>
          </a:p>
        </p:txBody>
      </p:sp>
      <p:graphicFrame>
        <p:nvGraphicFramePr>
          <p:cNvPr id="4" name="race-trace" descr=""/>
          <p:cNvGraphicFramePr/>
          <p:nvPr/>
        </p:nvGraphicFramePr>
        <p:xfrm>
          <a:off x="502920" y="1691640"/>
          <a:ext cx="77724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anel-124"/>
          <p:cNvSpPr/>
          <p:nvPr/>
        </p:nvSpPr>
        <p:spPr>
          <a:xfrm>
            <a:off x="8549640" y="1691640"/>
            <a:ext cx="3108960" cy="4343400"/>
          </a:xfrm>
          <a:prstGeom prst="roundRect">
            <a:avLst>
              <a:gd name="adj" fmla="val 1765"/>
            </a:avLst>
          </a:prstGeom>
          <a:solidFill>
            <a:schemeClr val="bg2"/>
          </a:solidFill>
          <a:ln w="9525">
            <a:solidFill>
              <a:srgbClr val="2FD16D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6" name="delta-num"/>
          <p:cNvSpPr txBox="1"/>
          <p:nvPr/>
        </p:nvSpPr>
        <p:spPr>
          <a:xfrm>
            <a:off x="8778240" y="19202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2FD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</a:t>
            </a:r>
            <a:endParaRPr lang="en-US" sz="6200" dirty="0"/>
          </a:p>
        </p:txBody>
      </p:sp>
      <p:sp>
        <p:nvSpPr>
          <p:cNvPr id="7" name="delta-k"/>
          <p:cNvSpPr txBox="1"/>
          <p:nvPr/>
        </p:nvSpPr>
        <p:spPr>
          <a:xfrm>
            <a:off x="8778240" y="2834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POSITIONS GAINED</a:t>
            </a:r>
            <a:endParaRPr lang="en-US" sz="1000" dirty="0"/>
          </a:p>
        </p:txBody>
      </p:sp>
      <p:sp>
        <p:nvSpPr>
          <p:cNvPr id="8" name="delta-body"/>
          <p:cNvSpPr txBox="1"/>
          <p:nvPr/>
        </p:nvSpPr>
        <p:spPr>
          <a:xfrm>
            <a:off x="8778240" y="324612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Team Knox entered the Sales Evaluation event at Rank 84. I built the marketing function around it and we finished Rank 7 — then did it again the next year, so nobody could call it luck.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After I graduated, the junior team I mentored took 3rd place in Cost Evaluation at BAJA SAE India 2023.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8303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303A"/>
                </a:solidFill>
              </a:rPr>
              <a:t>SECTION 04 — SECTOR TIMES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50" kern="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PlaceCom seat</a:t>
            </a:r>
            <a:endParaRPr lang="en-US" sz="3600" dirty="0"/>
          </a:p>
        </p:txBody>
      </p:sp>
      <p:sp>
        <p:nvSpPr>
          <p:cNvPr id="4" name="panel-125"/>
          <p:cNvSpPr/>
          <p:nvPr/>
        </p:nvSpPr>
        <p:spPr>
          <a:xfrm>
            <a:off x="502920" y="1691640"/>
            <a:ext cx="3429000" cy="41148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9525">
            <a:solidFill>
              <a:srgbClr val="B14D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5" name="ring-126"/>
          <p:cNvSpPr/>
          <p:nvPr/>
        </p:nvSpPr>
        <p:spPr>
          <a:xfrm>
            <a:off x="758952" y="1965960"/>
            <a:ext cx="566928" cy="566928"/>
          </a:xfrm>
          <a:prstGeom prst="ellipse">
            <a:avLst/>
          </a:prstGeom>
          <a:solidFill>
            <a:schemeClr val="bg1"/>
          </a:solidFill>
          <a:ln w="22225">
            <a:solidFill>
              <a:srgbClr val="B14DFF"/>
            </a:solidFill>
            <a:prstDash val="solid"/>
          </a:ln>
        </p:spPr>
      </p:sp>
      <p:sp>
        <p:nvSpPr>
          <p:cNvPr id="6" name="ring-label-127"/>
          <p:cNvSpPr txBox="1"/>
          <p:nvPr/>
        </p:nvSpPr>
        <p:spPr>
          <a:xfrm>
            <a:off x="758952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1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300" dirty="0"/>
          </a:p>
        </p:txBody>
      </p:sp>
      <p:sp>
        <p:nvSpPr>
          <p:cNvPr id="7" name="sec-tag-128"/>
          <p:cNvSpPr txBox="1"/>
          <p:nvPr/>
        </p:nvSpPr>
        <p:spPr>
          <a:xfrm>
            <a:off x="2423160" y="20756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B14DFF"/>
                </a:solidFill>
              </a:rPr>
              <a:t>PERSONAL BEST</a:t>
            </a:r>
            <a:endParaRPr lang="en-US" sz="850" dirty="0"/>
          </a:p>
        </p:txBody>
      </p:sp>
      <p:sp>
        <p:nvSpPr>
          <p:cNvPr id="8" name="sec-time-129"/>
          <p:cNvSpPr txBox="1"/>
          <p:nvPr/>
        </p:nvSpPr>
        <p:spPr>
          <a:xfrm>
            <a:off x="758952" y="2697480"/>
            <a:ext cx="2916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1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</a:t>
            </a:r>
            <a:endParaRPr lang="en-US" sz="4400" dirty="0"/>
          </a:p>
        </p:txBody>
      </p:sp>
      <p:sp>
        <p:nvSpPr>
          <p:cNvPr id="9" name="sec-name-130"/>
          <p:cNvSpPr txBox="1"/>
          <p:nvPr/>
        </p:nvSpPr>
        <p:spPr>
          <a:xfrm>
            <a:off x="758952" y="331927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</a:rPr>
              <a:t>EXPOSURE</a:t>
            </a:r>
            <a:endParaRPr lang="en-US" sz="1400" dirty="0"/>
          </a:p>
        </p:txBody>
      </p:sp>
      <p:sp>
        <p:nvSpPr>
          <p:cNvPr id="10" name="sec-b-131"/>
          <p:cNvSpPr txBox="1"/>
          <p:nvPr/>
        </p:nvSpPr>
        <p:spPr>
          <a:xfrm>
            <a:off x="758952" y="3666744"/>
            <a:ext cx="29169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On the Corporate Support Committee I sat inside the Summer Internship Process 2026 — conducting GDs, reviewing CVs, bridging the Placement Committee and the MBA-IB batch. I have watched ICICI Bank, Accel, Philips and D. E. Shaw run a process from the floor, not from a recap email.</a:t>
            </a:r>
            <a:endParaRPr lang="en-US" sz="1250" dirty="0"/>
          </a:p>
        </p:txBody>
      </p:sp>
      <p:sp>
        <p:nvSpPr>
          <p:cNvPr id="11" name="panel-132"/>
          <p:cNvSpPr/>
          <p:nvPr/>
        </p:nvSpPr>
        <p:spPr>
          <a:xfrm>
            <a:off x="4297680" y="1691640"/>
            <a:ext cx="3429000" cy="41148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9525">
            <a:solidFill>
              <a:srgbClr val="2FD16D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12" name="ring-133"/>
          <p:cNvSpPr/>
          <p:nvPr/>
        </p:nvSpPr>
        <p:spPr>
          <a:xfrm>
            <a:off x="4553712" y="1965960"/>
            <a:ext cx="566928" cy="566928"/>
          </a:xfrm>
          <a:prstGeom prst="ellipse">
            <a:avLst/>
          </a:prstGeom>
          <a:solidFill>
            <a:schemeClr val="bg1"/>
          </a:solidFill>
          <a:ln w="22225">
            <a:solidFill>
              <a:srgbClr val="2FD16D"/>
            </a:solidFill>
            <a:prstDash val="solid"/>
          </a:ln>
        </p:spPr>
      </p:sp>
      <p:sp>
        <p:nvSpPr>
          <p:cNvPr id="13" name="ring-label-134"/>
          <p:cNvSpPr txBox="1"/>
          <p:nvPr/>
        </p:nvSpPr>
        <p:spPr>
          <a:xfrm>
            <a:off x="4553712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D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300" dirty="0"/>
          </a:p>
        </p:txBody>
      </p:sp>
      <p:sp>
        <p:nvSpPr>
          <p:cNvPr id="14" name="sec-tag-135"/>
          <p:cNvSpPr txBox="1"/>
          <p:nvPr/>
        </p:nvSpPr>
        <p:spPr>
          <a:xfrm>
            <a:off x="6217920" y="20756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2FD16D"/>
                </a:solidFill>
              </a:rPr>
              <a:t>FASTEST</a:t>
            </a:r>
            <a:endParaRPr lang="en-US" sz="850" dirty="0"/>
          </a:p>
        </p:txBody>
      </p:sp>
      <p:sp>
        <p:nvSpPr>
          <p:cNvPr id="15" name="sec-time-136"/>
          <p:cNvSpPr txBox="1"/>
          <p:nvPr/>
        </p:nvSpPr>
        <p:spPr>
          <a:xfrm>
            <a:off x="4553712" y="2697480"/>
            <a:ext cx="2916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D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31.9</a:t>
            </a:r>
            <a:endParaRPr lang="en-US" sz="4400" dirty="0"/>
          </a:p>
        </p:txBody>
      </p:sp>
      <p:sp>
        <p:nvSpPr>
          <p:cNvPr id="16" name="sec-name-137"/>
          <p:cNvSpPr txBox="1"/>
          <p:nvPr/>
        </p:nvSpPr>
        <p:spPr>
          <a:xfrm>
            <a:off x="4553712" y="331927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</a:rPr>
              <a:t>EXECUTION</a:t>
            </a:r>
            <a:endParaRPr lang="en-US" sz="1400" dirty="0"/>
          </a:p>
        </p:txBody>
      </p:sp>
      <p:sp>
        <p:nvSpPr>
          <p:cNvPr id="17" name="sec-b-138"/>
          <p:cNvSpPr txBox="1"/>
          <p:nvPr/>
        </p:nvSpPr>
        <p:spPr>
          <a:xfrm>
            <a:off x="4553712" y="3666744"/>
            <a:ext cx="29169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Rank 84 to Rank 7, twice. 100+ recruiter interaction avenues executed. Two internships shipped — a 7-supplier sourcing plan at &gt;95% QC, and a full-funnel GTM that hit 48% GM/SKU at a CAC of ₹285. I close loops and document them.</a:t>
            </a:r>
            <a:endParaRPr lang="en-US" sz="1250" dirty="0"/>
          </a:p>
        </p:txBody>
      </p:sp>
      <p:sp>
        <p:nvSpPr>
          <p:cNvPr id="18" name="panel-139"/>
          <p:cNvSpPr/>
          <p:nvPr/>
        </p:nvSpPr>
        <p:spPr>
          <a:xfrm>
            <a:off x="8092440" y="1691640"/>
            <a:ext cx="3429000" cy="41148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9525">
            <a:solidFill>
              <a:srgbClr val="15E0D0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19" name="ring-140"/>
          <p:cNvSpPr/>
          <p:nvPr/>
        </p:nvSpPr>
        <p:spPr>
          <a:xfrm>
            <a:off x="8348472" y="1965960"/>
            <a:ext cx="566928" cy="566928"/>
          </a:xfrm>
          <a:prstGeom prst="ellipse">
            <a:avLst/>
          </a:prstGeom>
          <a:solidFill>
            <a:schemeClr val="bg1"/>
          </a:solidFill>
          <a:ln w="22225">
            <a:solidFill>
              <a:srgbClr val="15E0D0"/>
            </a:solidFill>
            <a:prstDash val="solid"/>
          </a:ln>
        </p:spPr>
      </p:sp>
      <p:sp>
        <p:nvSpPr>
          <p:cNvPr id="20" name="ring-label-141"/>
          <p:cNvSpPr txBox="1"/>
          <p:nvPr/>
        </p:nvSpPr>
        <p:spPr>
          <a:xfrm>
            <a:off x="8348472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300" dirty="0"/>
          </a:p>
        </p:txBody>
      </p:sp>
      <p:sp>
        <p:nvSpPr>
          <p:cNvPr id="21" name="sec-tag-142"/>
          <p:cNvSpPr txBox="1"/>
          <p:nvPr/>
        </p:nvSpPr>
        <p:spPr>
          <a:xfrm>
            <a:off x="10012680" y="20756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15E0D0"/>
                </a:solidFill>
              </a:rPr>
              <a:t>PERSONAL BEST</a:t>
            </a:r>
            <a:endParaRPr lang="en-US" sz="850" dirty="0"/>
          </a:p>
        </p:txBody>
      </p:sp>
      <p:sp>
        <p:nvSpPr>
          <p:cNvPr id="22" name="sec-time-143"/>
          <p:cNvSpPr txBox="1"/>
          <p:nvPr/>
        </p:nvSpPr>
        <p:spPr>
          <a:xfrm>
            <a:off x="8348472" y="2697480"/>
            <a:ext cx="2916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5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24.8</a:t>
            </a:r>
            <a:endParaRPr lang="en-US" sz="4400" dirty="0"/>
          </a:p>
        </p:txBody>
      </p:sp>
      <p:sp>
        <p:nvSpPr>
          <p:cNvPr id="23" name="sec-name-144"/>
          <p:cNvSpPr txBox="1"/>
          <p:nvPr/>
        </p:nvSpPr>
        <p:spPr>
          <a:xfrm>
            <a:off x="8348472" y="331927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</a:rPr>
              <a:t>EMPATHY</a:t>
            </a:r>
            <a:endParaRPr lang="en-US" sz="1400" dirty="0"/>
          </a:p>
        </p:txBody>
      </p:sp>
      <p:sp>
        <p:nvSpPr>
          <p:cNvPr id="24" name="sec-b-145"/>
          <p:cNvSpPr txBox="1"/>
          <p:nvPr/>
        </p:nvSpPr>
        <p:spPr>
          <a:xfrm>
            <a:off x="8348472" y="3666744"/>
            <a:ext cx="29169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400+ students, each with a different profile and a different fear. I have assisted batchmates on CVs and mock GDs, tutored 50+ juniors, and run a 7,000-person community where the only currency is being useful. Placements are a people problem first.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8303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303A"/>
                </a:solidFill>
              </a:rPr>
              <a:t>SECTION 05 — CIRCUIT MAP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50" kern="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lap so far</a:t>
            </a:r>
            <a:endParaRPr lang="en-US" sz="3600" dirty="0"/>
          </a:p>
        </p:txBody>
      </p:sp>
      <p:sp>
        <p:nvSpPr>
          <p:cNvPr id="4" name="panel-146"/>
          <p:cNvSpPr/>
          <p:nvPr/>
        </p:nvSpPr>
        <p:spPr>
          <a:xfrm>
            <a:off x="411480" y="1828800"/>
            <a:ext cx="2103120" cy="18745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9525">
            <a:solidFill>
              <a:srgbClr val="15E0D0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5" name="ring-147"/>
          <p:cNvSpPr/>
          <p:nvPr/>
        </p:nvSpPr>
        <p:spPr>
          <a:xfrm>
            <a:off x="594360" y="2011680"/>
            <a:ext cx="548640" cy="548640"/>
          </a:xfrm>
          <a:prstGeom prst="ellipse">
            <a:avLst/>
          </a:prstGeom>
          <a:solidFill>
            <a:schemeClr val="bg1"/>
          </a:solidFill>
          <a:ln w="22225">
            <a:solidFill>
              <a:srgbClr val="15E0D0"/>
            </a:solidFill>
            <a:prstDash val="solid"/>
          </a:ln>
        </p:spPr>
      </p:sp>
      <p:sp>
        <p:nvSpPr>
          <p:cNvPr id="6" name="ring-label-148"/>
          <p:cNvSpPr txBox="1"/>
          <p:nvPr/>
        </p:nvSpPr>
        <p:spPr>
          <a:xfrm>
            <a:off x="5943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S/F</a:t>
            </a:r>
            <a:endParaRPr lang="en-US" sz="1200" dirty="0"/>
          </a:p>
        </p:txBody>
      </p:sp>
      <p:sp>
        <p:nvSpPr>
          <p:cNvPr id="7" name="ml-y-149"/>
          <p:cNvSpPr txBox="1"/>
          <p:nvPr/>
        </p:nvSpPr>
        <p:spPr>
          <a:xfrm>
            <a:off x="594360" y="2670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2000" dirty="0"/>
          </a:p>
        </p:txBody>
      </p:sp>
      <p:sp>
        <p:nvSpPr>
          <p:cNvPr id="8" name="ml-t-150"/>
          <p:cNvSpPr txBox="1"/>
          <p:nvPr/>
        </p:nvSpPr>
        <p:spPr>
          <a:xfrm>
            <a:off x="594360" y="299923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IIT Roorkee — B.Tech begins</a:t>
            </a:r>
            <a:endParaRPr lang="en-US" sz="1150" dirty="0"/>
          </a:p>
        </p:txBody>
      </p:sp>
      <p:sp>
        <p:nvSpPr>
          <p:cNvPr id="9" name="panel-151"/>
          <p:cNvSpPr/>
          <p:nvPr/>
        </p:nvSpPr>
        <p:spPr>
          <a:xfrm>
            <a:off x="2715768" y="1828800"/>
            <a:ext cx="2103120" cy="18745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9525">
            <a:solidFill>
              <a:srgbClr val="6EA8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10" name="ring-152"/>
          <p:cNvSpPr/>
          <p:nvPr/>
        </p:nvSpPr>
        <p:spPr>
          <a:xfrm>
            <a:off x="2898648" y="2011680"/>
            <a:ext cx="548640" cy="548640"/>
          </a:xfrm>
          <a:prstGeom prst="ellipse">
            <a:avLst/>
          </a:prstGeom>
          <a:solidFill>
            <a:schemeClr val="bg1"/>
          </a:solidFill>
          <a:ln w="22225">
            <a:solidFill>
              <a:srgbClr val="6EA8FF"/>
            </a:solidFill>
            <a:prstDash val="solid"/>
          </a:ln>
        </p:spPr>
      </p:sp>
      <p:sp>
        <p:nvSpPr>
          <p:cNvPr id="11" name="ring-label-153"/>
          <p:cNvSpPr txBox="1"/>
          <p:nvPr/>
        </p:nvSpPr>
        <p:spPr>
          <a:xfrm>
            <a:off x="289864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1200" dirty="0"/>
          </a:p>
        </p:txBody>
      </p:sp>
      <p:sp>
        <p:nvSpPr>
          <p:cNvPr id="12" name="ml-y-154"/>
          <p:cNvSpPr txBox="1"/>
          <p:nvPr/>
        </p:nvSpPr>
        <p:spPr>
          <a:xfrm>
            <a:off x="2898648" y="2670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2000" dirty="0"/>
          </a:p>
        </p:txBody>
      </p:sp>
      <p:sp>
        <p:nvSpPr>
          <p:cNvPr id="13" name="ml-t-155"/>
          <p:cNvSpPr txBox="1"/>
          <p:nvPr/>
        </p:nvSpPr>
        <p:spPr>
          <a:xfrm>
            <a:off x="2898648" y="299923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Best Aesthetics, Srishti’19</a:t>
            </a:r>
            <a:endParaRPr lang="en-US" sz="1150" dirty="0"/>
          </a:p>
        </p:txBody>
      </p:sp>
      <p:sp>
        <p:nvSpPr>
          <p:cNvPr id="14" name="panel-156"/>
          <p:cNvSpPr/>
          <p:nvPr/>
        </p:nvSpPr>
        <p:spPr>
          <a:xfrm>
            <a:off x="5020056" y="1828800"/>
            <a:ext cx="2103120" cy="18745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9525">
            <a:solidFill>
              <a:srgbClr val="6EA8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15" name="ring-157"/>
          <p:cNvSpPr/>
          <p:nvPr/>
        </p:nvSpPr>
        <p:spPr>
          <a:xfrm>
            <a:off x="5202936" y="2011680"/>
            <a:ext cx="548640" cy="548640"/>
          </a:xfrm>
          <a:prstGeom prst="ellipse">
            <a:avLst/>
          </a:prstGeom>
          <a:solidFill>
            <a:schemeClr val="bg1"/>
          </a:solidFill>
          <a:ln w="22225">
            <a:solidFill>
              <a:srgbClr val="6EA8FF"/>
            </a:solidFill>
            <a:prstDash val="solid"/>
          </a:ln>
        </p:spPr>
      </p:sp>
      <p:sp>
        <p:nvSpPr>
          <p:cNvPr id="16" name="ring-label-158"/>
          <p:cNvSpPr txBox="1"/>
          <p:nvPr/>
        </p:nvSpPr>
        <p:spPr>
          <a:xfrm>
            <a:off x="5202936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1200" dirty="0"/>
          </a:p>
        </p:txBody>
      </p:sp>
      <p:sp>
        <p:nvSpPr>
          <p:cNvPr id="17" name="ml-y-159"/>
          <p:cNvSpPr txBox="1"/>
          <p:nvPr/>
        </p:nvSpPr>
        <p:spPr>
          <a:xfrm>
            <a:off x="5202936" y="2670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2000" dirty="0"/>
          </a:p>
        </p:txBody>
      </p:sp>
      <p:sp>
        <p:nvSpPr>
          <p:cNvPr id="18" name="ml-t-160"/>
          <p:cNvSpPr txBox="1"/>
          <p:nvPr/>
        </p:nvSpPr>
        <p:spPr>
          <a:xfrm>
            <a:off x="5202936" y="299923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Team Knox — Suspension Engineer</a:t>
            </a:r>
            <a:endParaRPr lang="en-US" sz="1150" dirty="0"/>
          </a:p>
        </p:txBody>
      </p:sp>
      <p:sp>
        <p:nvSpPr>
          <p:cNvPr id="19" name="panel-161"/>
          <p:cNvSpPr/>
          <p:nvPr/>
        </p:nvSpPr>
        <p:spPr>
          <a:xfrm>
            <a:off x="7324344" y="1828800"/>
            <a:ext cx="2103120" cy="18745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9525">
            <a:solidFill>
              <a:srgbClr val="E8303A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20" name="ring-162"/>
          <p:cNvSpPr/>
          <p:nvPr/>
        </p:nvSpPr>
        <p:spPr>
          <a:xfrm>
            <a:off x="7507224" y="2011680"/>
            <a:ext cx="548640" cy="548640"/>
          </a:xfrm>
          <a:prstGeom prst="ellipse">
            <a:avLst/>
          </a:prstGeom>
          <a:solidFill>
            <a:schemeClr val="bg1"/>
          </a:solidFill>
          <a:ln w="22225">
            <a:solidFill>
              <a:srgbClr val="E8303A"/>
            </a:solidFill>
            <a:prstDash val="solid"/>
          </a:ln>
        </p:spPr>
      </p:sp>
      <p:sp>
        <p:nvSpPr>
          <p:cNvPr id="21" name="ring-label-163"/>
          <p:cNvSpPr txBox="1"/>
          <p:nvPr/>
        </p:nvSpPr>
        <p:spPr>
          <a:xfrm>
            <a:off x="750722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1200" dirty="0"/>
          </a:p>
        </p:txBody>
      </p:sp>
      <p:sp>
        <p:nvSpPr>
          <p:cNvPr id="22" name="ml-y-164"/>
          <p:cNvSpPr txBox="1"/>
          <p:nvPr/>
        </p:nvSpPr>
        <p:spPr>
          <a:xfrm>
            <a:off x="7507224" y="2670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2000" dirty="0"/>
          </a:p>
        </p:txBody>
      </p:sp>
      <p:sp>
        <p:nvSpPr>
          <p:cNvPr id="23" name="ml-t-165"/>
          <p:cNvSpPr txBox="1"/>
          <p:nvPr/>
        </p:nvSpPr>
        <p:spPr>
          <a:xfrm>
            <a:off x="7507224" y="299923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Rank 7 national — BAJA SAE</a:t>
            </a:r>
            <a:endParaRPr lang="en-US" sz="1150" dirty="0"/>
          </a:p>
        </p:txBody>
      </p:sp>
      <p:sp>
        <p:nvSpPr>
          <p:cNvPr id="24" name="panel-166"/>
          <p:cNvSpPr/>
          <p:nvPr/>
        </p:nvSpPr>
        <p:spPr>
          <a:xfrm>
            <a:off x="9628632" y="1828800"/>
            <a:ext cx="2103120" cy="18745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9525">
            <a:solidFill>
              <a:srgbClr val="E8303A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25" name="ring-167"/>
          <p:cNvSpPr/>
          <p:nvPr/>
        </p:nvSpPr>
        <p:spPr>
          <a:xfrm>
            <a:off x="9811512" y="2011680"/>
            <a:ext cx="548640" cy="548640"/>
          </a:xfrm>
          <a:prstGeom prst="ellipse">
            <a:avLst/>
          </a:prstGeom>
          <a:solidFill>
            <a:schemeClr val="bg1"/>
          </a:solidFill>
          <a:ln w="22225">
            <a:solidFill>
              <a:srgbClr val="E8303A"/>
            </a:solidFill>
            <a:prstDash val="solid"/>
          </a:ln>
        </p:spPr>
      </p:sp>
      <p:sp>
        <p:nvSpPr>
          <p:cNvPr id="26" name="ring-label-168"/>
          <p:cNvSpPr txBox="1"/>
          <p:nvPr/>
        </p:nvSpPr>
        <p:spPr>
          <a:xfrm>
            <a:off x="981151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1200" dirty="0"/>
          </a:p>
        </p:txBody>
      </p:sp>
      <p:sp>
        <p:nvSpPr>
          <p:cNvPr id="27" name="ml-y-169"/>
          <p:cNvSpPr txBox="1"/>
          <p:nvPr/>
        </p:nvSpPr>
        <p:spPr>
          <a:xfrm>
            <a:off x="9811512" y="2670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2000" dirty="0"/>
          </a:p>
        </p:txBody>
      </p:sp>
      <p:sp>
        <p:nvSpPr>
          <p:cNvPr id="28" name="ml-t-170"/>
          <p:cNvSpPr txBox="1"/>
          <p:nvPr/>
        </p:nvSpPr>
        <p:spPr>
          <a:xfrm>
            <a:off x="9811512" y="299923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Marketing Head — Rank 7 again</a:t>
            </a:r>
            <a:endParaRPr lang="en-US" sz="1150" dirty="0"/>
          </a:p>
        </p:txBody>
      </p:sp>
      <p:sp>
        <p:nvSpPr>
          <p:cNvPr id="29" name="panel-171"/>
          <p:cNvSpPr/>
          <p:nvPr/>
        </p:nvSpPr>
        <p:spPr>
          <a:xfrm>
            <a:off x="411480" y="4023360"/>
            <a:ext cx="2103120" cy="18745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9525">
            <a:solidFill>
              <a:srgbClr val="FFC14D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30" name="ring-172"/>
          <p:cNvSpPr/>
          <p:nvPr/>
        </p:nvSpPr>
        <p:spPr>
          <a:xfrm>
            <a:off x="594360" y="4206240"/>
            <a:ext cx="548640" cy="548640"/>
          </a:xfrm>
          <a:prstGeom prst="ellipse">
            <a:avLst/>
          </a:prstGeom>
          <a:solidFill>
            <a:schemeClr val="bg1"/>
          </a:solidFill>
          <a:ln w="22225">
            <a:solidFill>
              <a:srgbClr val="FFC14D"/>
            </a:solidFill>
            <a:prstDash val="solid"/>
          </a:ln>
        </p:spPr>
      </p:sp>
      <p:sp>
        <p:nvSpPr>
          <p:cNvPr id="31" name="ring-label-173"/>
          <p:cNvSpPr txBox="1"/>
          <p:nvPr/>
        </p:nvSpPr>
        <p:spPr>
          <a:xfrm>
            <a:off x="59436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1200" dirty="0"/>
          </a:p>
        </p:txBody>
      </p:sp>
      <p:sp>
        <p:nvSpPr>
          <p:cNvPr id="32" name="ml-y-174"/>
          <p:cNvSpPr txBox="1"/>
          <p:nvPr/>
        </p:nvSpPr>
        <p:spPr>
          <a:xfrm>
            <a:off x="594360" y="48646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2000" dirty="0"/>
          </a:p>
        </p:txBody>
      </p:sp>
      <p:sp>
        <p:nvSpPr>
          <p:cNvPr id="33" name="ml-t-175"/>
          <p:cNvSpPr txBox="1"/>
          <p:nvPr/>
        </p:nvSpPr>
        <p:spPr>
          <a:xfrm>
            <a:off x="594360" y="519379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Graduated — 8.635 CGPA</a:t>
            </a:r>
            <a:endParaRPr lang="en-US" sz="1150" dirty="0"/>
          </a:p>
        </p:txBody>
      </p:sp>
      <p:sp>
        <p:nvSpPr>
          <p:cNvPr id="34" name="panel-176"/>
          <p:cNvSpPr/>
          <p:nvPr/>
        </p:nvSpPr>
        <p:spPr>
          <a:xfrm>
            <a:off x="2715768" y="4023360"/>
            <a:ext cx="2103120" cy="18745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9525">
            <a:solidFill>
              <a:srgbClr val="B14D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35" name="ring-177"/>
          <p:cNvSpPr/>
          <p:nvPr/>
        </p:nvSpPr>
        <p:spPr>
          <a:xfrm>
            <a:off x="2898648" y="4206240"/>
            <a:ext cx="548640" cy="548640"/>
          </a:xfrm>
          <a:prstGeom prst="ellipse">
            <a:avLst/>
          </a:prstGeom>
          <a:solidFill>
            <a:schemeClr val="bg1"/>
          </a:solidFill>
          <a:ln w="22225">
            <a:solidFill>
              <a:srgbClr val="B14DFF"/>
            </a:solidFill>
            <a:prstDash val="solid"/>
          </a:ln>
        </p:spPr>
      </p:sp>
      <p:sp>
        <p:nvSpPr>
          <p:cNvPr id="36" name="ring-label-178"/>
          <p:cNvSpPr txBox="1"/>
          <p:nvPr/>
        </p:nvSpPr>
        <p:spPr>
          <a:xfrm>
            <a:off x="2898648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1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1200" dirty="0"/>
          </a:p>
        </p:txBody>
      </p:sp>
      <p:sp>
        <p:nvSpPr>
          <p:cNvPr id="37" name="ml-y-179"/>
          <p:cNvSpPr txBox="1"/>
          <p:nvPr/>
        </p:nvSpPr>
        <p:spPr>
          <a:xfrm>
            <a:off x="2898648" y="48646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2000" dirty="0"/>
          </a:p>
        </p:txBody>
      </p:sp>
      <p:sp>
        <p:nvSpPr>
          <p:cNvPr id="38" name="ml-t-180"/>
          <p:cNvSpPr txBox="1"/>
          <p:nvPr/>
        </p:nvSpPr>
        <p:spPr>
          <a:xfrm>
            <a:off x="2898648" y="519379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Mentored team → 3rd place</a:t>
            </a:r>
            <a:endParaRPr lang="en-US" sz="1150" dirty="0"/>
          </a:p>
        </p:txBody>
      </p:sp>
      <p:sp>
        <p:nvSpPr>
          <p:cNvPr id="39" name="panel-181"/>
          <p:cNvSpPr/>
          <p:nvPr/>
        </p:nvSpPr>
        <p:spPr>
          <a:xfrm>
            <a:off x="5020056" y="4023360"/>
            <a:ext cx="2103120" cy="18745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9525">
            <a:solidFill>
              <a:srgbClr val="2FD16D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40" name="ring-182"/>
          <p:cNvSpPr/>
          <p:nvPr/>
        </p:nvSpPr>
        <p:spPr>
          <a:xfrm>
            <a:off x="5202936" y="4206240"/>
            <a:ext cx="548640" cy="548640"/>
          </a:xfrm>
          <a:prstGeom prst="ellipse">
            <a:avLst/>
          </a:prstGeom>
          <a:solidFill>
            <a:schemeClr val="bg1"/>
          </a:solidFill>
          <a:ln w="22225">
            <a:solidFill>
              <a:srgbClr val="2FD16D"/>
            </a:solidFill>
            <a:prstDash val="solid"/>
          </a:ln>
        </p:spPr>
      </p:sp>
      <p:sp>
        <p:nvSpPr>
          <p:cNvPr id="41" name="ring-label-183"/>
          <p:cNvSpPr txBox="1"/>
          <p:nvPr/>
        </p:nvSpPr>
        <p:spPr>
          <a:xfrm>
            <a:off x="5202936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D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1200" dirty="0"/>
          </a:p>
        </p:txBody>
      </p:sp>
      <p:sp>
        <p:nvSpPr>
          <p:cNvPr id="42" name="ml-y-184"/>
          <p:cNvSpPr txBox="1"/>
          <p:nvPr/>
        </p:nvSpPr>
        <p:spPr>
          <a:xfrm>
            <a:off x="5202936" y="48646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D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000" dirty="0"/>
          </a:p>
        </p:txBody>
      </p:sp>
      <p:sp>
        <p:nvSpPr>
          <p:cNvPr id="43" name="ml-t-185"/>
          <p:cNvSpPr txBox="1"/>
          <p:nvPr/>
        </p:nvSpPr>
        <p:spPr>
          <a:xfrm>
            <a:off x="5202936" y="519379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Soul Mirage — GTM &amp; sourcing</a:t>
            </a:r>
            <a:endParaRPr lang="en-US" sz="1150" dirty="0"/>
          </a:p>
        </p:txBody>
      </p:sp>
      <p:sp>
        <p:nvSpPr>
          <p:cNvPr id="44" name="panel-186"/>
          <p:cNvSpPr/>
          <p:nvPr/>
        </p:nvSpPr>
        <p:spPr>
          <a:xfrm>
            <a:off x="7324344" y="4023360"/>
            <a:ext cx="2103120" cy="18745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9525">
            <a:solidFill>
              <a:srgbClr val="2FD16D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45" name="ring-187"/>
          <p:cNvSpPr/>
          <p:nvPr/>
        </p:nvSpPr>
        <p:spPr>
          <a:xfrm>
            <a:off x="7507224" y="4206240"/>
            <a:ext cx="548640" cy="548640"/>
          </a:xfrm>
          <a:prstGeom prst="ellipse">
            <a:avLst/>
          </a:prstGeom>
          <a:solidFill>
            <a:schemeClr val="bg1"/>
          </a:solidFill>
          <a:ln w="22225">
            <a:solidFill>
              <a:srgbClr val="2FD16D"/>
            </a:solidFill>
            <a:prstDash val="solid"/>
          </a:ln>
        </p:spPr>
      </p:sp>
      <p:sp>
        <p:nvSpPr>
          <p:cNvPr id="46" name="ring-label-188"/>
          <p:cNvSpPr txBox="1"/>
          <p:nvPr/>
        </p:nvSpPr>
        <p:spPr>
          <a:xfrm>
            <a:off x="7507224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D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1200" dirty="0"/>
          </a:p>
        </p:txBody>
      </p:sp>
      <p:sp>
        <p:nvSpPr>
          <p:cNvPr id="47" name="ml-y-189"/>
          <p:cNvSpPr txBox="1"/>
          <p:nvPr/>
        </p:nvSpPr>
        <p:spPr>
          <a:xfrm>
            <a:off x="7507224" y="48646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D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000" dirty="0"/>
          </a:p>
        </p:txBody>
      </p:sp>
      <p:sp>
        <p:nvSpPr>
          <p:cNvPr id="48" name="ml-t-190"/>
          <p:cNvSpPr txBox="1"/>
          <p:nvPr/>
        </p:nvSpPr>
        <p:spPr>
          <a:xfrm>
            <a:off x="7507224" y="519379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Escorts Kubota — Mgmt Trainee</a:t>
            </a:r>
            <a:endParaRPr lang="en-US" sz="1150" dirty="0"/>
          </a:p>
        </p:txBody>
      </p:sp>
      <p:sp>
        <p:nvSpPr>
          <p:cNvPr id="49" name="panel-191"/>
          <p:cNvSpPr/>
          <p:nvPr/>
        </p:nvSpPr>
        <p:spPr>
          <a:xfrm>
            <a:off x="9628632" y="4023360"/>
            <a:ext cx="2103120" cy="18745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9525">
            <a:solidFill>
              <a:srgbClr val="15E0D0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50" name="ring-192"/>
          <p:cNvSpPr/>
          <p:nvPr/>
        </p:nvSpPr>
        <p:spPr>
          <a:xfrm>
            <a:off x="9811512" y="4206240"/>
            <a:ext cx="548640" cy="548640"/>
          </a:xfrm>
          <a:prstGeom prst="ellipse">
            <a:avLst/>
          </a:prstGeom>
          <a:solidFill>
            <a:schemeClr val="bg1"/>
          </a:solidFill>
          <a:ln w="22225">
            <a:solidFill>
              <a:srgbClr val="15E0D0"/>
            </a:solidFill>
            <a:prstDash val="solid"/>
          </a:ln>
        </p:spPr>
      </p:sp>
      <p:sp>
        <p:nvSpPr>
          <p:cNvPr id="51" name="ring-label-193"/>
          <p:cNvSpPr txBox="1"/>
          <p:nvPr/>
        </p:nvSpPr>
        <p:spPr>
          <a:xfrm>
            <a:off x="9811512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T9</a:t>
            </a:r>
            <a:endParaRPr lang="en-US" sz="1200" dirty="0"/>
          </a:p>
        </p:txBody>
      </p:sp>
      <p:sp>
        <p:nvSpPr>
          <p:cNvPr id="52" name="ml-y-194"/>
          <p:cNvSpPr txBox="1"/>
          <p:nvPr/>
        </p:nvSpPr>
        <p:spPr>
          <a:xfrm>
            <a:off x="9811512" y="48646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000" dirty="0"/>
          </a:p>
        </p:txBody>
      </p:sp>
      <p:sp>
        <p:nvSpPr>
          <p:cNvPr id="53" name="ml-t-195"/>
          <p:cNvSpPr txBox="1"/>
          <p:nvPr/>
        </p:nvSpPr>
        <p:spPr>
          <a:xfrm>
            <a:off x="9811512" y="519379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IIFT Kolkata — CSC member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8303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303A"/>
                </a:solidFill>
              </a:rPr>
              <a:t>CHEQUERED FLAG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50" kern="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me the seat</a:t>
            </a:r>
            <a:endParaRPr lang="en-US" sz="3600" dirty="0"/>
          </a:p>
        </p:txBody>
      </p:sp>
      <p:sp>
        <p:nvSpPr>
          <p:cNvPr id="4" name="chq-a-196"/>
          <p:cNvSpPr/>
          <p:nvPr/>
        </p:nvSpPr>
        <p:spPr>
          <a:xfrm>
            <a:off x="502920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5" name="chq-b-197"/>
          <p:cNvSpPr/>
          <p:nvPr/>
        </p:nvSpPr>
        <p:spPr>
          <a:xfrm>
            <a:off x="502920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6" name="chq-a-198"/>
          <p:cNvSpPr/>
          <p:nvPr/>
        </p:nvSpPr>
        <p:spPr>
          <a:xfrm>
            <a:off x="735178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7" name="chq-b-199"/>
          <p:cNvSpPr/>
          <p:nvPr/>
        </p:nvSpPr>
        <p:spPr>
          <a:xfrm>
            <a:off x="735178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8" name="chq-a-200"/>
          <p:cNvSpPr/>
          <p:nvPr/>
        </p:nvSpPr>
        <p:spPr>
          <a:xfrm>
            <a:off x="967435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9" name="chq-b-201"/>
          <p:cNvSpPr/>
          <p:nvPr/>
        </p:nvSpPr>
        <p:spPr>
          <a:xfrm>
            <a:off x="967435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10" name="chq-a-202"/>
          <p:cNvSpPr/>
          <p:nvPr/>
        </p:nvSpPr>
        <p:spPr>
          <a:xfrm>
            <a:off x="1199693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11" name="chq-b-203"/>
          <p:cNvSpPr/>
          <p:nvPr/>
        </p:nvSpPr>
        <p:spPr>
          <a:xfrm>
            <a:off x="1199693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2" name="chq-a-204"/>
          <p:cNvSpPr/>
          <p:nvPr/>
        </p:nvSpPr>
        <p:spPr>
          <a:xfrm>
            <a:off x="1431950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3" name="chq-b-205"/>
          <p:cNvSpPr/>
          <p:nvPr/>
        </p:nvSpPr>
        <p:spPr>
          <a:xfrm>
            <a:off x="1431950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14" name="chq-a-206"/>
          <p:cNvSpPr/>
          <p:nvPr/>
        </p:nvSpPr>
        <p:spPr>
          <a:xfrm>
            <a:off x="1664208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15" name="chq-b-207"/>
          <p:cNvSpPr/>
          <p:nvPr/>
        </p:nvSpPr>
        <p:spPr>
          <a:xfrm>
            <a:off x="1664208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6" name="chq-a-208"/>
          <p:cNvSpPr/>
          <p:nvPr/>
        </p:nvSpPr>
        <p:spPr>
          <a:xfrm>
            <a:off x="1896466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7" name="chq-b-209"/>
          <p:cNvSpPr/>
          <p:nvPr/>
        </p:nvSpPr>
        <p:spPr>
          <a:xfrm>
            <a:off x="1896466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18" name="chq-a-210"/>
          <p:cNvSpPr/>
          <p:nvPr/>
        </p:nvSpPr>
        <p:spPr>
          <a:xfrm>
            <a:off x="2128723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19" name="chq-b-211"/>
          <p:cNvSpPr/>
          <p:nvPr/>
        </p:nvSpPr>
        <p:spPr>
          <a:xfrm>
            <a:off x="2128723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0" name="chq-a-212"/>
          <p:cNvSpPr/>
          <p:nvPr/>
        </p:nvSpPr>
        <p:spPr>
          <a:xfrm>
            <a:off x="2360981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chq-b-213"/>
          <p:cNvSpPr/>
          <p:nvPr/>
        </p:nvSpPr>
        <p:spPr>
          <a:xfrm>
            <a:off x="2360981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22" name="chq-a-214"/>
          <p:cNvSpPr/>
          <p:nvPr/>
        </p:nvSpPr>
        <p:spPr>
          <a:xfrm>
            <a:off x="2593238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23" name="chq-b-215"/>
          <p:cNvSpPr/>
          <p:nvPr/>
        </p:nvSpPr>
        <p:spPr>
          <a:xfrm>
            <a:off x="2593238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4" name="chq-a-216"/>
          <p:cNvSpPr/>
          <p:nvPr/>
        </p:nvSpPr>
        <p:spPr>
          <a:xfrm>
            <a:off x="2825496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5" name="chq-b-217"/>
          <p:cNvSpPr/>
          <p:nvPr/>
        </p:nvSpPr>
        <p:spPr>
          <a:xfrm>
            <a:off x="2825496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26" name="chq-a-218"/>
          <p:cNvSpPr/>
          <p:nvPr/>
        </p:nvSpPr>
        <p:spPr>
          <a:xfrm>
            <a:off x="3057754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27" name="chq-b-219"/>
          <p:cNvSpPr/>
          <p:nvPr/>
        </p:nvSpPr>
        <p:spPr>
          <a:xfrm>
            <a:off x="3057754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8" name="chq-a-220"/>
          <p:cNvSpPr/>
          <p:nvPr/>
        </p:nvSpPr>
        <p:spPr>
          <a:xfrm>
            <a:off x="3290011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9" name="chq-b-221"/>
          <p:cNvSpPr/>
          <p:nvPr/>
        </p:nvSpPr>
        <p:spPr>
          <a:xfrm>
            <a:off x="3290011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30" name="chq-a-222"/>
          <p:cNvSpPr/>
          <p:nvPr/>
        </p:nvSpPr>
        <p:spPr>
          <a:xfrm>
            <a:off x="3522269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31" name="chq-b-223"/>
          <p:cNvSpPr/>
          <p:nvPr/>
        </p:nvSpPr>
        <p:spPr>
          <a:xfrm>
            <a:off x="3522269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32" name="chq-a-224"/>
          <p:cNvSpPr/>
          <p:nvPr/>
        </p:nvSpPr>
        <p:spPr>
          <a:xfrm>
            <a:off x="3754526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33" name="chq-b-225"/>
          <p:cNvSpPr/>
          <p:nvPr/>
        </p:nvSpPr>
        <p:spPr>
          <a:xfrm>
            <a:off x="3754526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34" name="chq-a-226"/>
          <p:cNvSpPr/>
          <p:nvPr/>
        </p:nvSpPr>
        <p:spPr>
          <a:xfrm>
            <a:off x="3986784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35" name="chq-b-227"/>
          <p:cNvSpPr/>
          <p:nvPr/>
        </p:nvSpPr>
        <p:spPr>
          <a:xfrm>
            <a:off x="3986784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36" name="chq-a-228"/>
          <p:cNvSpPr/>
          <p:nvPr/>
        </p:nvSpPr>
        <p:spPr>
          <a:xfrm>
            <a:off x="4219042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37" name="chq-b-229"/>
          <p:cNvSpPr/>
          <p:nvPr/>
        </p:nvSpPr>
        <p:spPr>
          <a:xfrm>
            <a:off x="4219042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38" name="chq-a-230"/>
          <p:cNvSpPr/>
          <p:nvPr/>
        </p:nvSpPr>
        <p:spPr>
          <a:xfrm>
            <a:off x="4451299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39" name="chq-b-231"/>
          <p:cNvSpPr/>
          <p:nvPr/>
        </p:nvSpPr>
        <p:spPr>
          <a:xfrm>
            <a:off x="4451299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40" name="chq-a-232"/>
          <p:cNvSpPr/>
          <p:nvPr/>
        </p:nvSpPr>
        <p:spPr>
          <a:xfrm>
            <a:off x="4683557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41" name="chq-b-233"/>
          <p:cNvSpPr/>
          <p:nvPr/>
        </p:nvSpPr>
        <p:spPr>
          <a:xfrm>
            <a:off x="4683557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42" name="chq-a-234"/>
          <p:cNvSpPr/>
          <p:nvPr/>
        </p:nvSpPr>
        <p:spPr>
          <a:xfrm>
            <a:off x="4915814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43" name="chq-b-235"/>
          <p:cNvSpPr/>
          <p:nvPr/>
        </p:nvSpPr>
        <p:spPr>
          <a:xfrm>
            <a:off x="4915814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44" name="chq-a-236"/>
          <p:cNvSpPr/>
          <p:nvPr/>
        </p:nvSpPr>
        <p:spPr>
          <a:xfrm>
            <a:off x="5148072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45" name="chq-b-237"/>
          <p:cNvSpPr/>
          <p:nvPr/>
        </p:nvSpPr>
        <p:spPr>
          <a:xfrm>
            <a:off x="5148072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46" name="chq-a-238"/>
          <p:cNvSpPr/>
          <p:nvPr/>
        </p:nvSpPr>
        <p:spPr>
          <a:xfrm>
            <a:off x="5380330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47" name="chq-b-239"/>
          <p:cNvSpPr/>
          <p:nvPr/>
        </p:nvSpPr>
        <p:spPr>
          <a:xfrm>
            <a:off x="5380330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48" name="chq-a-240"/>
          <p:cNvSpPr/>
          <p:nvPr/>
        </p:nvSpPr>
        <p:spPr>
          <a:xfrm>
            <a:off x="5612587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49" name="chq-b-241"/>
          <p:cNvSpPr/>
          <p:nvPr/>
        </p:nvSpPr>
        <p:spPr>
          <a:xfrm>
            <a:off x="5612587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50" name="chq-a-242"/>
          <p:cNvSpPr/>
          <p:nvPr/>
        </p:nvSpPr>
        <p:spPr>
          <a:xfrm>
            <a:off x="5844845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51" name="chq-b-243"/>
          <p:cNvSpPr/>
          <p:nvPr/>
        </p:nvSpPr>
        <p:spPr>
          <a:xfrm>
            <a:off x="5844845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52" name="chq-a-244"/>
          <p:cNvSpPr/>
          <p:nvPr/>
        </p:nvSpPr>
        <p:spPr>
          <a:xfrm>
            <a:off x="6077102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53" name="chq-b-245"/>
          <p:cNvSpPr/>
          <p:nvPr/>
        </p:nvSpPr>
        <p:spPr>
          <a:xfrm>
            <a:off x="6077102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54" name="chq-a-246"/>
          <p:cNvSpPr/>
          <p:nvPr/>
        </p:nvSpPr>
        <p:spPr>
          <a:xfrm>
            <a:off x="6309360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55" name="chq-b-247"/>
          <p:cNvSpPr/>
          <p:nvPr/>
        </p:nvSpPr>
        <p:spPr>
          <a:xfrm>
            <a:off x="6309360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56" name="chq-a-248"/>
          <p:cNvSpPr/>
          <p:nvPr/>
        </p:nvSpPr>
        <p:spPr>
          <a:xfrm>
            <a:off x="6541618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57" name="chq-b-249"/>
          <p:cNvSpPr/>
          <p:nvPr/>
        </p:nvSpPr>
        <p:spPr>
          <a:xfrm>
            <a:off x="6541618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58" name="chq-a-250"/>
          <p:cNvSpPr/>
          <p:nvPr/>
        </p:nvSpPr>
        <p:spPr>
          <a:xfrm>
            <a:off x="6773875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59" name="chq-b-251"/>
          <p:cNvSpPr/>
          <p:nvPr/>
        </p:nvSpPr>
        <p:spPr>
          <a:xfrm>
            <a:off x="6773875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60" name="chq-a-252"/>
          <p:cNvSpPr/>
          <p:nvPr/>
        </p:nvSpPr>
        <p:spPr>
          <a:xfrm>
            <a:off x="7006133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61" name="chq-b-253"/>
          <p:cNvSpPr/>
          <p:nvPr/>
        </p:nvSpPr>
        <p:spPr>
          <a:xfrm>
            <a:off x="7006133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62" name="chq-a-254"/>
          <p:cNvSpPr/>
          <p:nvPr/>
        </p:nvSpPr>
        <p:spPr>
          <a:xfrm>
            <a:off x="7238390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63" name="chq-b-255"/>
          <p:cNvSpPr/>
          <p:nvPr/>
        </p:nvSpPr>
        <p:spPr>
          <a:xfrm>
            <a:off x="7238390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64" name="chq-a-256"/>
          <p:cNvSpPr/>
          <p:nvPr/>
        </p:nvSpPr>
        <p:spPr>
          <a:xfrm>
            <a:off x="7470648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65" name="chq-b-257"/>
          <p:cNvSpPr/>
          <p:nvPr/>
        </p:nvSpPr>
        <p:spPr>
          <a:xfrm>
            <a:off x="7470648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66" name="chq-a-258"/>
          <p:cNvSpPr/>
          <p:nvPr/>
        </p:nvSpPr>
        <p:spPr>
          <a:xfrm>
            <a:off x="7702906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67" name="chq-b-259"/>
          <p:cNvSpPr/>
          <p:nvPr/>
        </p:nvSpPr>
        <p:spPr>
          <a:xfrm>
            <a:off x="7702906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68" name="chq-a-260"/>
          <p:cNvSpPr/>
          <p:nvPr/>
        </p:nvSpPr>
        <p:spPr>
          <a:xfrm>
            <a:off x="7935163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69" name="chq-b-261"/>
          <p:cNvSpPr/>
          <p:nvPr/>
        </p:nvSpPr>
        <p:spPr>
          <a:xfrm>
            <a:off x="7935163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70" name="chq-a-262"/>
          <p:cNvSpPr/>
          <p:nvPr/>
        </p:nvSpPr>
        <p:spPr>
          <a:xfrm>
            <a:off x="8167421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71" name="chq-b-263"/>
          <p:cNvSpPr/>
          <p:nvPr/>
        </p:nvSpPr>
        <p:spPr>
          <a:xfrm>
            <a:off x="8167421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72" name="chq-a-264"/>
          <p:cNvSpPr/>
          <p:nvPr/>
        </p:nvSpPr>
        <p:spPr>
          <a:xfrm>
            <a:off x="8399678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73" name="chq-b-265"/>
          <p:cNvSpPr/>
          <p:nvPr/>
        </p:nvSpPr>
        <p:spPr>
          <a:xfrm>
            <a:off x="8399678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74" name="chq-a-266"/>
          <p:cNvSpPr/>
          <p:nvPr/>
        </p:nvSpPr>
        <p:spPr>
          <a:xfrm>
            <a:off x="8631936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75" name="chq-b-267"/>
          <p:cNvSpPr/>
          <p:nvPr/>
        </p:nvSpPr>
        <p:spPr>
          <a:xfrm>
            <a:off x="8631936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76" name="chq-a-268"/>
          <p:cNvSpPr/>
          <p:nvPr/>
        </p:nvSpPr>
        <p:spPr>
          <a:xfrm>
            <a:off x="8864194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77" name="chq-b-269"/>
          <p:cNvSpPr/>
          <p:nvPr/>
        </p:nvSpPr>
        <p:spPr>
          <a:xfrm>
            <a:off x="8864194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78" name="chq-a-270"/>
          <p:cNvSpPr/>
          <p:nvPr/>
        </p:nvSpPr>
        <p:spPr>
          <a:xfrm>
            <a:off x="9096451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79" name="chq-b-271"/>
          <p:cNvSpPr/>
          <p:nvPr/>
        </p:nvSpPr>
        <p:spPr>
          <a:xfrm>
            <a:off x="9096451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80" name="chq-a-272"/>
          <p:cNvSpPr/>
          <p:nvPr/>
        </p:nvSpPr>
        <p:spPr>
          <a:xfrm>
            <a:off x="9328709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81" name="chq-b-273"/>
          <p:cNvSpPr/>
          <p:nvPr/>
        </p:nvSpPr>
        <p:spPr>
          <a:xfrm>
            <a:off x="9328709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82" name="chq-a-274"/>
          <p:cNvSpPr/>
          <p:nvPr/>
        </p:nvSpPr>
        <p:spPr>
          <a:xfrm>
            <a:off x="9560966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83" name="chq-b-275"/>
          <p:cNvSpPr/>
          <p:nvPr/>
        </p:nvSpPr>
        <p:spPr>
          <a:xfrm>
            <a:off x="9560966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84" name="chq-a-276"/>
          <p:cNvSpPr/>
          <p:nvPr/>
        </p:nvSpPr>
        <p:spPr>
          <a:xfrm>
            <a:off x="9793224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85" name="chq-b-277"/>
          <p:cNvSpPr/>
          <p:nvPr/>
        </p:nvSpPr>
        <p:spPr>
          <a:xfrm>
            <a:off x="9793224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86" name="chq-a-278"/>
          <p:cNvSpPr/>
          <p:nvPr/>
        </p:nvSpPr>
        <p:spPr>
          <a:xfrm>
            <a:off x="10025482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87" name="chq-b-279"/>
          <p:cNvSpPr/>
          <p:nvPr/>
        </p:nvSpPr>
        <p:spPr>
          <a:xfrm>
            <a:off x="10025482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88" name="chq-a-280"/>
          <p:cNvSpPr/>
          <p:nvPr/>
        </p:nvSpPr>
        <p:spPr>
          <a:xfrm>
            <a:off x="10257739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89" name="chq-b-281"/>
          <p:cNvSpPr/>
          <p:nvPr/>
        </p:nvSpPr>
        <p:spPr>
          <a:xfrm>
            <a:off x="10257739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90" name="chq-a-282"/>
          <p:cNvSpPr/>
          <p:nvPr/>
        </p:nvSpPr>
        <p:spPr>
          <a:xfrm>
            <a:off x="10489997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91" name="chq-b-283"/>
          <p:cNvSpPr/>
          <p:nvPr/>
        </p:nvSpPr>
        <p:spPr>
          <a:xfrm>
            <a:off x="10489997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92" name="chq-a-284"/>
          <p:cNvSpPr/>
          <p:nvPr/>
        </p:nvSpPr>
        <p:spPr>
          <a:xfrm>
            <a:off x="10722254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93" name="chq-b-285"/>
          <p:cNvSpPr/>
          <p:nvPr/>
        </p:nvSpPr>
        <p:spPr>
          <a:xfrm>
            <a:off x="10722254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94" name="chq-a-286"/>
          <p:cNvSpPr/>
          <p:nvPr/>
        </p:nvSpPr>
        <p:spPr>
          <a:xfrm>
            <a:off x="10954512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95" name="chq-b-287"/>
          <p:cNvSpPr/>
          <p:nvPr/>
        </p:nvSpPr>
        <p:spPr>
          <a:xfrm>
            <a:off x="10954512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96" name="chq-a-288"/>
          <p:cNvSpPr/>
          <p:nvPr/>
        </p:nvSpPr>
        <p:spPr>
          <a:xfrm>
            <a:off x="11186770" y="1536192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97" name="chq-b-289"/>
          <p:cNvSpPr/>
          <p:nvPr/>
        </p:nvSpPr>
        <p:spPr>
          <a:xfrm>
            <a:off x="11186770" y="1664208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98" name="chq-a-290"/>
          <p:cNvSpPr/>
          <p:nvPr/>
        </p:nvSpPr>
        <p:spPr>
          <a:xfrm>
            <a:off x="11419027" y="1536192"/>
            <a:ext cx="232258" cy="128016"/>
          </a:xfrm>
          <a:prstGeom prst="rect">
            <a:avLst/>
          </a:prstGeom>
          <a:solidFill>
            <a:srgbClr val="161F2B"/>
          </a:solidFill>
          <a:ln w="12700">
            <a:solidFill>
              <a:srgbClr val="161F2B"/>
            </a:solidFill>
            <a:prstDash val="solid"/>
          </a:ln>
        </p:spPr>
      </p:sp>
      <p:sp>
        <p:nvSpPr>
          <p:cNvPr id="99" name="chq-b-291"/>
          <p:cNvSpPr/>
          <p:nvPr/>
        </p:nvSpPr>
        <p:spPr>
          <a:xfrm>
            <a:off x="11419027" y="1664208"/>
            <a:ext cx="232258" cy="128016"/>
          </a:xfrm>
          <a:prstGeom prst="rect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00" name="close-1"/>
          <p:cNvSpPr txBox="1"/>
          <p:nvPr/>
        </p:nvSpPr>
        <p:spPr>
          <a:xfrm>
            <a:off x="502920" y="21031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I have already done the job without the title — inside the Corporate Support Committee, inside a team that climbed 81 places, inside a community of 7,000.</a:t>
            </a:r>
            <a:endParaRPr lang="en-US" sz="1900" dirty="0"/>
          </a:p>
        </p:txBody>
      </p:sp>
      <p:sp>
        <p:nvSpPr>
          <p:cNvPr id="101" name="close-2"/>
          <p:cNvSpPr txBox="1"/>
          <p:nvPr/>
        </p:nvSpPr>
        <p:spPr>
          <a:xfrm>
            <a:off x="502920" y="28346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Put me on the Placement Committee and I will bring the same three things: the data to see the grid clearly, the discipline to run the process, and the patience to sit with the person who is 200th on the shortlist.</a:t>
            </a:r>
            <a:endParaRPr lang="en-US" sz="1500" dirty="0"/>
          </a:p>
        </p:txBody>
      </p:sp>
      <p:sp>
        <p:nvSpPr>
          <p:cNvPr id="102" name="panel-292"/>
          <p:cNvSpPr/>
          <p:nvPr/>
        </p:nvSpPr>
        <p:spPr>
          <a:xfrm>
            <a:off x="502920" y="3840480"/>
            <a:ext cx="2103120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rgbClr val="2FD16D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103" name="fin-v-293"/>
          <p:cNvSpPr txBox="1"/>
          <p:nvPr/>
        </p:nvSpPr>
        <p:spPr>
          <a:xfrm>
            <a:off x="640080" y="4041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D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</a:t>
            </a:r>
            <a:endParaRPr lang="en-US" sz="2800" dirty="0"/>
          </a:p>
        </p:txBody>
      </p:sp>
      <p:sp>
        <p:nvSpPr>
          <p:cNvPr id="104" name="fin-k-294"/>
          <p:cNvSpPr txBox="1"/>
          <p:nvPr/>
        </p:nvSpPr>
        <p:spPr>
          <a:xfrm>
            <a:off x="59436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chemeClr val="tx2"/>
                </a:solidFill>
              </a:rPr>
              <a:t>POSITIONS GAINED</a:t>
            </a:r>
            <a:endParaRPr lang="en-US" sz="900" dirty="0"/>
          </a:p>
        </p:txBody>
      </p:sp>
      <p:sp>
        <p:nvSpPr>
          <p:cNvPr id="105" name="panel-295"/>
          <p:cNvSpPr/>
          <p:nvPr/>
        </p:nvSpPr>
        <p:spPr>
          <a:xfrm>
            <a:off x="2788920" y="3840480"/>
            <a:ext cx="2103120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rgbClr val="15E0D0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106" name="fin-v-296"/>
          <p:cNvSpPr txBox="1"/>
          <p:nvPr/>
        </p:nvSpPr>
        <p:spPr>
          <a:xfrm>
            <a:off x="2926080" y="4041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2800" dirty="0"/>
          </a:p>
        </p:txBody>
      </p:sp>
      <p:sp>
        <p:nvSpPr>
          <p:cNvPr id="107" name="fin-k-297"/>
          <p:cNvSpPr txBox="1"/>
          <p:nvPr/>
        </p:nvSpPr>
        <p:spPr>
          <a:xfrm>
            <a:off x="288036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chemeClr val="tx2"/>
                </a:solidFill>
              </a:rPr>
              <a:t>STUDENTS SUPPORTED</a:t>
            </a:r>
            <a:endParaRPr lang="en-US" sz="900" dirty="0"/>
          </a:p>
        </p:txBody>
      </p:sp>
      <p:sp>
        <p:nvSpPr>
          <p:cNvPr id="108" name="panel-298"/>
          <p:cNvSpPr/>
          <p:nvPr/>
        </p:nvSpPr>
        <p:spPr>
          <a:xfrm>
            <a:off x="5074920" y="3840480"/>
            <a:ext cx="2103120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rgbClr val="FFC14D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109" name="fin-v-299"/>
          <p:cNvSpPr txBox="1"/>
          <p:nvPr/>
        </p:nvSpPr>
        <p:spPr>
          <a:xfrm>
            <a:off x="5212080" y="4041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2800" dirty="0"/>
          </a:p>
        </p:txBody>
      </p:sp>
      <p:sp>
        <p:nvSpPr>
          <p:cNvPr id="110" name="fin-k-300"/>
          <p:cNvSpPr txBox="1"/>
          <p:nvPr/>
        </p:nvSpPr>
        <p:spPr>
          <a:xfrm>
            <a:off x="516636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chemeClr val="tx2"/>
                </a:solidFill>
              </a:rPr>
              <a:t>RECRUITER AVENUES</a:t>
            </a:r>
            <a:endParaRPr lang="en-US" sz="900" dirty="0"/>
          </a:p>
        </p:txBody>
      </p:sp>
      <p:sp>
        <p:nvSpPr>
          <p:cNvPr id="111" name="panel-301"/>
          <p:cNvSpPr/>
          <p:nvPr/>
        </p:nvSpPr>
        <p:spPr>
          <a:xfrm>
            <a:off x="7360920" y="3840480"/>
            <a:ext cx="2103120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rgbClr val="B14D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112" name="fin-v-302"/>
          <p:cNvSpPr txBox="1"/>
          <p:nvPr/>
        </p:nvSpPr>
        <p:spPr>
          <a:xfrm>
            <a:off x="7498080" y="4041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1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7,000+</a:t>
            </a:r>
            <a:endParaRPr lang="en-US" sz="2800" dirty="0"/>
          </a:p>
        </p:txBody>
      </p:sp>
      <p:sp>
        <p:nvSpPr>
          <p:cNvPr id="113" name="fin-k-303"/>
          <p:cNvSpPr txBox="1"/>
          <p:nvPr/>
        </p:nvSpPr>
        <p:spPr>
          <a:xfrm>
            <a:off x="745236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chemeClr val="tx2"/>
                </a:solidFill>
              </a:rPr>
              <a:t>COMMUNITY BUILT</a:t>
            </a:r>
            <a:endParaRPr lang="en-US" sz="900" dirty="0"/>
          </a:p>
        </p:txBody>
      </p:sp>
      <p:sp>
        <p:nvSpPr>
          <p:cNvPr id="114" name="panel-304"/>
          <p:cNvSpPr/>
          <p:nvPr/>
        </p:nvSpPr>
        <p:spPr>
          <a:xfrm>
            <a:off x="9646920" y="3840480"/>
            <a:ext cx="2103120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rgbClr val="E8303A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45000"/>
              </a:srgbClr>
            </a:outerShdw>
          </a:effectLst>
        </p:spPr>
      </p:sp>
      <p:sp>
        <p:nvSpPr>
          <p:cNvPr id="115" name="fin-v-305"/>
          <p:cNvSpPr txBox="1"/>
          <p:nvPr/>
        </p:nvSpPr>
        <p:spPr>
          <a:xfrm>
            <a:off x="9784080" y="4041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90%+</a:t>
            </a:r>
            <a:endParaRPr lang="en-US" sz="2800" dirty="0"/>
          </a:p>
        </p:txBody>
      </p:sp>
      <p:sp>
        <p:nvSpPr>
          <p:cNvPr id="116" name="fin-k-306"/>
          <p:cNvSpPr txBox="1"/>
          <p:nvPr/>
        </p:nvSpPr>
        <p:spPr>
          <a:xfrm>
            <a:off x="973836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chemeClr val="tx2"/>
                </a:solidFill>
              </a:rPr>
              <a:t>X · XII · UG</a:t>
            </a:r>
            <a:endParaRPr lang="en-US" sz="900" dirty="0"/>
          </a:p>
        </p:txBody>
      </p:sp>
      <p:sp>
        <p:nvSpPr>
          <p:cNvPr id="117" name="cta"/>
          <p:cNvSpPr txBox="1"/>
          <p:nvPr/>
        </p:nvSpPr>
        <p:spPr>
          <a:xfrm>
            <a:off x="502920" y="5349240"/>
            <a:ext cx="3657600" cy="475488"/>
          </a:xfrm>
          <a:prstGeom prst="rect">
            <a:avLst/>
          </a:prstGeom>
          <a:solidFill>
            <a:srgbClr val="E830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</a:rPr>
              <a:t>LIGHTS OUT — LET'S GO</a:t>
            </a:r>
            <a:endParaRPr lang="en-US" sz="1500" dirty="0"/>
          </a:p>
        </p:txBody>
      </p:sp>
      <p:sp>
        <p:nvSpPr>
          <p:cNvPr id="118" name="cta-url"/>
          <p:cNvSpPr txBox="1"/>
          <p:nvPr/>
        </p:nvSpPr>
        <p:spPr>
          <a:xfrm>
            <a:off x="4434840" y="534924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E0D0"/>
                </a:solidFill>
              </a:rPr>
              <a:t>Full driver card:  suteekshn-mahajan-profile.vercel.app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8303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id Entry">
  <a:themeElements>
    <a:clrScheme name="Grid Entry">
      <a:dk1>
        <a:srgbClr val="EAF1F8"/>
      </a:dk1>
      <a:lt1>
        <a:srgbClr val="06080B"/>
      </a:lt1>
      <a:dk2>
        <a:srgbClr val="92A6BA"/>
      </a:dk2>
      <a:lt2>
        <a:srgbClr val="111A26"/>
      </a:lt2>
      <a:accent1>
        <a:srgbClr val="E8303A"/>
      </a:accent1>
      <a:accent2>
        <a:srgbClr val="15E0D0"/>
      </a:accent2>
      <a:accent3>
        <a:srgbClr val="FFC14D"/>
      </a:accent3>
      <a:accent4>
        <a:srgbClr val="B14DFF"/>
      </a:accent4>
      <a:accent5>
        <a:srgbClr val="2FD16D"/>
      </a:accent5>
      <a:accent6>
        <a:srgbClr val="6EA8FF"/>
      </a:accent6>
      <a:hlink>
        <a:srgbClr val="15E0D0"/>
      </a:hlink>
      <a:folHlink>
        <a:srgbClr val="B14DFF"/>
      </a:folHlink>
    </a:clrScheme>
    <a:fontScheme name="Grid Entr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Indian Institute of Foreign Trade, Kolkata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Suteekshn Mahajan — Grid Entry</dc:title>
  <dc:subject>Placement Committee candidacy</dc:subject>
  <dc:creator>Suteekshn Mahajan</dc:creator>
  <cp:lastModifiedBy>Suteekshn Mahajan</cp:lastModifiedBy>
  <cp:revision>1</cp:revision>
  <dcterms:created xsi:type="dcterms:W3CDTF">2026-10-29T01:38:49Z</dcterms:created>
  <dcterms:modified xsi:type="dcterms:W3CDTF">2026-10-29T01:38:49Z</dcterms:modified>
</cp:coreProperties>
</file>